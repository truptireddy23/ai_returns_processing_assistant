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cap" id="{0c701a58-58a4-0aed-5605-e2f7ff9bc28d}">
          <p14:sldIdLst>
            <p14:sldId id="256"/>
          </p14:sldIdLst>
        </p14:section>
        <p14:section name="Validation" id="{bd6a9e9c-d910-58a1-4f43-2b2d662294cc}">
          <p14:sldIdLst>
            <p14:sldId id="257"/>
            <p14:sldId id="258"/>
            <p14:sldId id="259"/>
            <p14:sldId id="260"/>
          </p14:sldIdLst>
        </p14:section>
        <p14:section name="Design" id="{e82af9f3-3947-fb3d-6d49-76c6cf077edf}">
          <p14:sldIdLst>
            <p14:sldId id="261"/>
          </p14:sldIdLst>
        </p14:section>
        <p14:section name="Next" id="{b706d996-3d77-5365-cf27-0f79ef1923e1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seconds. ReturnGuard reviews e-commerce returns with AI, but the point of Checkpoint 2 was to test where AI should and should not be trusted with that decision. Recap the problem in one line: returns are a judgment call with costs in both directions — fraud on one side, wrongly denied customers on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minute. Our theory lens is the complementarity framework from Gonzalez et al.: a human-AI team only beats both baselines when their error patterns differ and each owns what it is good at. Our claim: humans own denials, ambiguous calls and accountability; AI owns routine vigilance. Checkpoint 1 assumptions we tested: that a confidence score helps, that escalating anything uncertain is safe, and that AI can screen photos. All three changed. The five must-have features come from that evidence; each is justified as evidence, then the complementarity break, then the principle that fixes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to 1.5 minutes. Four tools, one per team member: three closed models and one open-weight model, Qwen. Five scenarios, tagged by case type and by the cognitive pillar from the theory: one typical, one edge, three failure cases. Every run used the same setup prompt with a fictional 7-clause return policy, the same four sneaker photos, and a fresh chat. We ran the ambiguous case twice to test consistency. That gives 24 runs, each scored for decision accuracy, clauses cited, invented facts, format, deferral to a human, confidence calibration and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1.5 to 2 minutes. The tools were good at rules: every tool got the clear defect and the date arithmetic right. They failed at judgment, authenticity and authority. None of the four detected the AI-generated photo, and Gemini, which generated that image, approved it at 100%. None said a human must confirm a denial; ChatGPT and Gemini told a new team member to send it without approval, and Qwen ignored the question entirely. Three of four denied the ambiguous worn-shoe case. The screenshot is a ChatGPT re-run of the authority question: it labelled the case APPROVE at 95%, then argued it should be DENY, and still said no manager approval was needed. Confidence never tracked correctness. Surprising positive: the open-weight model, Qwen, was the only one to escalate the ambiguous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to 1.5 minutes; each member reports their own interviews. Aditya: a customer who shops weekly and a retail associate with two years of returns experience. Both insisted a person has the final say. The customer trusted "100%" less, not more, and asked for a way to appeal. The associate warned that escalating every uncertain case would erase the time savings, and asked for overrides to be tracked. Sharayu: a customer and an e-commerce support specialist. The customer drew the line clearly: AI can recommend, but humans decide a "no"; they also raised bias in profiling "high-risk" customers. The specialist already splits objective denials (one person) from condition-based ones (team lead), and warned that fast AI turns the reviewer into a validator who may rubber-stamp. Trupti: a weekly online shopper and a warehouse returns associate. The customer drew the line — the AI can say yes, only a person says no — and wanted to know who decided. The associate refuses to sign denials they did not really review, and warned that a holiday escalation flood would put them back to doing everything by hand. Avni: short-form interviews with a customer and a campus bookstore associate. The customer called the concept fair and wants identical cases treated identically; the associate said percentages make people lazy and would check the policy with a shift lead before acting on any AI denial. The three gaps at the bottom are the theoretical reading: trust calibration, attention, and meta-coordination.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to 1.5 minutes, then the live demo. This is the heart of Checkpoint 2: every change from v0 to v1 traces to a receipt. We replaced the model's self-rated confidence with evidence strength computed from the checks, added a separate photo authenticity check, moved missing-evidence handling to a rule-based check that asks the customer, made the gate escalate only for named reasons, and added a request-a-review option for denied customers. Demo path: open R-216 to show the unverified-photo banner and evidence strength, then deny R-211 and show the customer's request-a-review.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New risks from the evidence: fake photos, flooding reviewers, rubber-stamping, and bias in model inputs, each with its safeguard. In Checkpoint 3 we build the pipeline and test complementarity directly: the same ground-truth cases decided by a human alone, by one LLM alone, and by the hybrid. Complementarity holds only if the hybrid beats both baselines on accuracy and wrongful denials while using less human time than a human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for the posted deck; no need to present it. It addresses the Checkpoint 1 feedback that our slides did not cite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ruptireddy23/AI_Returns_Processing_Assistan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ruptireddy23/AI_Returns_Processing_Assistant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822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· PROMPT-BASED VALIDATION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2801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ReturnGuard</a:t>
            </a:r>
            <a:endParaRPr lang="en-US" sz="66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468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returns assistant that knows when it should </a:t>
            </a:r>
            <a:pPr indent="0" marL="0">
              <a:buNone/>
            </a:pPr>
            <a:r>
              <a:rPr lang="en-US" sz="2400" i="1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240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decide.</a:t>
            </a:r>
            <a:endParaRPr lang="en-US" sz="2400" dirty="0"/>
          </a:p>
        </p:txBody>
      </p:sp>
      <p:sp>
        <p:nvSpPr>
          <p:cNvPr id="5" name="Problem"/>
          <p:cNvSpPr txBox="1"/>
          <p:nvPr/>
        </p:nvSpPr>
        <p:spPr>
          <a:xfrm>
            <a:off x="548640" y="41605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every online return is a judgment call. Wave abuse through and margins erode; wrongly deny an honest customer and trust erodes.</a:t>
            </a:r>
            <a:endParaRPr lang="en-US" sz="1800" dirty="0"/>
          </a:p>
        </p:txBody>
      </p:sp>
      <p:sp>
        <p:nvSpPr>
          <p:cNvPr id="6" name="Team"/>
          <p:cNvSpPr txBox="1"/>
          <p:nvPr/>
        </p:nvSpPr>
        <p:spPr>
          <a:xfrm>
            <a:off x="548640" y="52578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 Kamath · Trupti Reddy · Avni Wadhwani · Sharayu Jadhav</a:t>
            </a:r>
            <a:endParaRPr lang="en-US" sz="1400" dirty="0"/>
          </a:p>
        </p:txBody>
      </p:sp>
      <p:sp>
        <p:nvSpPr>
          <p:cNvPr id="7" name="Repo link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A9B1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github.com/truptireddy23/AI_Returns_Processing_Assistant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goals and theory claim</a:t>
            </a:r>
            <a:endParaRPr lang="en-US" sz="3200" dirty="0"/>
          </a:p>
        </p:txBody>
      </p:sp>
      <p:sp>
        <p:nvSpPr>
          <p:cNvPr id="3" name="Claim card"/>
          <p:cNvSpPr/>
          <p:nvPr/>
        </p:nvSpPr>
        <p:spPr>
          <a:xfrm>
            <a:off x="548640" y="1325880"/>
            <a:ext cx="11094415" cy="1280160"/>
          </a:xfrm>
          <a:prstGeom prst="roundRect">
            <a:avLst>
              <a:gd name="adj" fmla="val 714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Claim text"/>
          <p:cNvSpPr txBox="1"/>
          <p:nvPr/>
        </p:nvSpPr>
        <p:spPr>
          <a:xfrm>
            <a:off x="822960" y="146304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COMPLEMENTARITY CLAIM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hybrid should beat human-alone and AI-alone at deciding returns accurately and fairly, because </a:t>
            </a:r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own denials, ambiguous calls and accountability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while </a:t>
            </a:r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owns routine vigilance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 auditable reasoning trace.</a:t>
            </a:r>
            <a:endParaRPr lang="en-US" sz="1700" dirty="0"/>
          </a:p>
        </p:txBody>
      </p:sp>
      <p:sp>
        <p:nvSpPr>
          <p:cNvPr id="5" name="Thought heading"/>
          <p:cNvSpPr txBox="1"/>
          <p:nvPr/>
        </p:nvSpPr>
        <p:spPr>
          <a:xfrm>
            <a:off x="548640" y="28346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thought… → the evidence showed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65836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thought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confidence score builds trust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said 95–100% on wrong answers; a customer trusted "100%" 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 anything uncertain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Over-escalation floods reviewers: escalate for named reasons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can screen damage photos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 tools caught an AI-generated photo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Must-haves heading"/>
          <p:cNvSpPr txBox="1"/>
          <p:nvPr/>
        </p:nvSpPr>
        <p:spPr>
          <a:xfrm>
            <a:off x="7680960" y="283464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must-haves</a:t>
            </a:r>
            <a:endParaRPr lang="en-US" sz="1600" dirty="0"/>
          </a:p>
        </p:txBody>
      </p:sp>
      <p:sp>
        <p:nvSpPr>
          <p:cNvPr id="8" name="Must-haves"/>
          <p:cNvSpPr txBox="1"/>
          <p:nvPr/>
        </p:nvSpPr>
        <p:spPr>
          <a:xfrm>
            <a:off x="7680960" y="3246120"/>
            <a:ext cx="39593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Human-only denials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strength, not AI confidence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authenticity check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calls always escalate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data check first</a:t>
            </a:r>
            <a:endParaRPr lang="en-US" sz="1500" dirty="0"/>
          </a:p>
        </p:txBody>
      </p:sp>
      <p:sp>
        <p:nvSpPr>
          <p:cNvPr id="9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Gonzalez et al. (2026), PNAS Nexus 5(3). Details: validation/THEORY_LENS.md, OPPORTUNITY_FRAMING.md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study design</a:t>
            </a:r>
            <a:endParaRPr lang="en-US" sz="3200" dirty="0"/>
          </a:p>
        </p:txBody>
      </p:sp>
      <p:sp>
        <p:nvSpPr>
          <p:cNvPr id="3" name="ChatGPT card"/>
          <p:cNvSpPr/>
          <p:nvPr/>
        </p:nvSpPr>
        <p:spPr>
          <a:xfrm>
            <a:off x="548640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atGPT label"/>
          <p:cNvSpPr txBox="1"/>
          <p:nvPr/>
        </p:nvSpPr>
        <p:spPr>
          <a:xfrm>
            <a:off x="731520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OpenAI · Aditya</a:t>
            </a:r>
            <a:endParaRPr lang="en-US" sz="1800" dirty="0"/>
          </a:p>
        </p:txBody>
      </p:sp>
      <p:sp>
        <p:nvSpPr>
          <p:cNvPr id="5" name="Claude card"/>
          <p:cNvSpPr/>
          <p:nvPr/>
        </p:nvSpPr>
        <p:spPr>
          <a:xfrm>
            <a:off x="3367964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laude label"/>
          <p:cNvSpPr txBox="1"/>
          <p:nvPr/>
        </p:nvSpPr>
        <p:spPr>
          <a:xfrm>
            <a:off x="3550844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Anthropic · Trupti</a:t>
            </a:r>
            <a:endParaRPr lang="en-US" sz="1800" dirty="0"/>
          </a:p>
        </p:txBody>
      </p:sp>
      <p:sp>
        <p:nvSpPr>
          <p:cNvPr id="7" name="Gemini card"/>
          <p:cNvSpPr/>
          <p:nvPr/>
        </p:nvSpPr>
        <p:spPr>
          <a:xfrm>
            <a:off x="6187288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emini label"/>
          <p:cNvSpPr txBox="1"/>
          <p:nvPr/>
        </p:nvSpPr>
        <p:spPr>
          <a:xfrm>
            <a:off x="6370168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Google · Avni</a:t>
            </a:r>
            <a:endParaRPr lang="en-US" sz="1800" dirty="0"/>
          </a:p>
        </p:txBody>
      </p:sp>
      <p:sp>
        <p:nvSpPr>
          <p:cNvPr id="9" name="Qwen Chat card"/>
          <p:cNvSpPr/>
          <p:nvPr/>
        </p:nvSpPr>
        <p:spPr>
          <a:xfrm>
            <a:off x="9006611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Qwen Chat label"/>
          <p:cNvSpPr txBox="1"/>
          <p:nvPr/>
        </p:nvSpPr>
        <p:spPr>
          <a:xfrm>
            <a:off x="9189491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Chat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· Sharayu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029200"/>
                <a:gridCol w="1463040"/>
                <a:gridCol w="210312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defect, matching photo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Worn shoes claimed as defective (run twice)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overconfidence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damage photo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Damage claimed, no photo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return, then "can I just send the denial?"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meta-coordination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Controls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setup prompt and 7-clause policy · same 4 photos · fresh chat per run · E1 run twice →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runs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each scored on 8 checks</a:t>
            </a:r>
            <a:endParaRPr lang="en-US" sz="1500" dirty="0"/>
          </a:p>
        </p:txBody>
      </p:sp>
      <p:sp>
        <p:nvSpPr>
          <p:cNvPr id="13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validation/PROMPTING_PROTOCOL.md · Transcripts: validation/transcripts/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Evidence: what worked and what failed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325880"/>
            <a:ext cx="3576218" cy="1554480"/>
          </a:xfrm>
          <a:prstGeom prst="roundRect">
            <a:avLst>
              <a:gd name="adj" fmla="val 588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777240" y="14173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</a:t>
            </a:r>
            <a:endParaRPr lang="en-US" sz="4000" dirty="0"/>
          </a:p>
        </p:txBody>
      </p:sp>
      <p:sp>
        <p:nvSpPr>
          <p:cNvPr id="5" name="Stat label 1"/>
          <p:cNvSpPr txBox="1"/>
          <p:nvPr/>
        </p:nvSpPr>
        <p:spPr>
          <a:xfrm>
            <a:off x="777240" y="21031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the AI-generated photo. Gemini approved its own fake at 100%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4307738" y="1325880"/>
            <a:ext cx="3576218" cy="1554480"/>
          </a:xfrm>
          <a:prstGeom prst="roundRect">
            <a:avLst>
              <a:gd name="adj" fmla="val 588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Stat 2"/>
          <p:cNvSpPr txBox="1"/>
          <p:nvPr/>
        </p:nvSpPr>
        <p:spPr>
          <a:xfrm>
            <a:off x="4536338" y="14173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</a:t>
            </a:r>
            <a:endParaRPr lang="en-US" sz="4000" dirty="0"/>
          </a:p>
        </p:txBody>
      </p:sp>
      <p:sp>
        <p:nvSpPr>
          <p:cNvPr id="8" name="Stat label 2"/>
          <p:cNvSpPr txBox="1"/>
          <p:nvPr/>
        </p:nvSpPr>
        <p:spPr>
          <a:xfrm>
            <a:off x="4536338" y="21031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a person must confirm a denial before the customer is told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8066837" y="1325880"/>
            <a:ext cx="3576218" cy="1554480"/>
          </a:xfrm>
          <a:prstGeom prst="roundRect">
            <a:avLst>
              <a:gd name="adj" fmla="val 588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tat 3"/>
          <p:cNvSpPr txBox="1"/>
          <p:nvPr/>
        </p:nvSpPr>
        <p:spPr>
          <a:xfrm>
            <a:off x="8295437" y="14173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4</a:t>
            </a:r>
            <a:endParaRPr lang="en-US" sz="4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8295437" y="21031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the ambiguous wear-vs-defect case, at 70–100% confidence</a:t>
            </a:r>
            <a:endParaRPr lang="en-US" sz="1400" dirty="0"/>
          </a:p>
        </p:txBody>
      </p:sp>
      <p:pic>
        <p:nvPicPr>
          <p:cNvPr id="12" name="ChatGPT F3 screenshot" descr="ChatGPT screenshot: it answers APPROVE at 95% confidence, then says the decision should actually be DENY and that no manager approval is nee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08960"/>
            <a:ext cx="3611880" cy="2926080"/>
          </a:xfrm>
          <a:prstGeom prst="rect">
            <a:avLst/>
          </a:prstGeom>
        </p:spPr>
      </p:pic>
      <p:sp>
        <p:nvSpPr>
          <p:cNvPr id="13" name="Quote"/>
          <p:cNvSpPr txBox="1"/>
          <p:nvPr/>
        </p:nvSpPr>
        <p:spPr>
          <a:xfrm>
            <a:off x="4434840" y="3246120"/>
            <a:ext cx="7205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"Decision: APPROVE · Confidence: 95%… the decision should actually be DENY, not APPROVE… no manager approval is needed."</a:t>
            </a:r>
            <a:endParaRPr lang="en-US" sz="1900" dirty="0"/>
          </a:p>
        </p:txBody>
      </p:sp>
      <p:sp>
        <p:nvSpPr>
          <p:cNvPr id="14" name="Quote caption"/>
          <p:cNvSpPr txBox="1"/>
          <p:nvPr/>
        </p:nvSpPr>
        <p:spPr>
          <a:xfrm>
            <a:off x="4434840" y="4343400"/>
            <a:ext cx="7205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F3 re-run: its label contradicted its own reasoning, and it flipped from DENY (100%) in the first run</a:t>
            </a:r>
            <a:endParaRPr lang="en-US" sz="1300" dirty="0"/>
          </a:p>
        </p:txBody>
      </p:sp>
      <p:sp>
        <p:nvSpPr>
          <p:cNvPr id="15" name="What worked"/>
          <p:cNvSpPr txBox="1"/>
          <p:nvPr/>
        </p:nvSpPr>
        <p:spPr>
          <a:xfrm>
            <a:off x="4434840" y="5029200"/>
            <a:ext cx="7205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got the clear case and the date maths right. Only open-weight Qwen escalated the ambiguous case.</a:t>
            </a:r>
            <a:endParaRPr lang="en-US" sz="15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Receipts: validation/transcripts/ (24 runs, scored) and screenshots/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analysis: speed-dating findings</a:t>
            </a:r>
            <a:endParaRPr lang="en-US" sz="3200" dirty="0"/>
          </a:p>
        </p:txBody>
      </p:sp>
      <p:sp>
        <p:nvSpPr>
          <p:cNvPr id="3" name="Aditya card"/>
          <p:cNvSpPr/>
          <p:nvPr/>
        </p:nvSpPr>
        <p:spPr>
          <a:xfrm>
            <a:off x="548640" y="13258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ditya findings"/>
          <p:cNvSpPr txBox="1"/>
          <p:nvPr/>
        </p:nvSpPr>
        <p:spPr>
          <a:xfrm>
            <a:off x="777240" y="14630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 · customer + retail associate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"Claiming 100% makes me wonder whether the AI understands its own limitations."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system should filter cases intelligently rather than just passing its uncertainty to employees."</a:t>
            </a:r>
            <a:endParaRPr lang="en-US" sz="1500" dirty="0"/>
          </a:p>
        </p:txBody>
      </p:sp>
      <p:sp>
        <p:nvSpPr>
          <p:cNvPr id="5" name="Trupti card"/>
          <p:cNvSpPr/>
          <p:nvPr/>
        </p:nvSpPr>
        <p:spPr>
          <a:xfrm>
            <a:off x="6187288" y="13258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rupti findings"/>
          <p:cNvSpPr txBox="1"/>
          <p:nvPr/>
        </p:nvSpPr>
        <p:spPr>
          <a:xfrm>
            <a:off x="6415888" y="14630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Trupti · customer + returns associate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AI can say yes. Only a person gets to say no."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my name is on the denial, I need to have actually looked."</a:t>
            </a:r>
            <a:endParaRPr lang="en-US" sz="1500" dirty="0"/>
          </a:p>
        </p:txBody>
      </p:sp>
      <p:sp>
        <p:nvSpPr>
          <p:cNvPr id="7" name="Avni card"/>
          <p:cNvSpPr/>
          <p:nvPr/>
        </p:nvSpPr>
        <p:spPr>
          <a:xfrm>
            <a:off x="548640" y="29260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vni findings"/>
          <p:cNvSpPr txBox="1"/>
          <p:nvPr/>
        </p:nvSpPr>
        <p:spPr>
          <a:xfrm>
            <a:off x="777240" y="30632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Avni · customer + bookstore associate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"Percentages can make people lazy and trick them into hitting 'approve' without actually looking."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check the policy and show their shift lead before any AI denial.</a:t>
            </a:r>
            <a:endParaRPr lang="en-US" sz="1500" dirty="0"/>
          </a:p>
        </p:txBody>
      </p:sp>
      <p:sp>
        <p:nvSpPr>
          <p:cNvPr id="9" name="Sharayu card"/>
          <p:cNvSpPr/>
          <p:nvPr/>
        </p:nvSpPr>
        <p:spPr>
          <a:xfrm>
            <a:off x="6187288" y="29260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rayu findings"/>
          <p:cNvSpPr txBox="1"/>
          <p:nvPr/>
        </p:nvSpPr>
        <p:spPr>
          <a:xfrm>
            <a:off x="6415888" y="30632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Sharayu · customer + support specialist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can recommend, but humans decide when it's a 'no.'"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 would shift my role from 'decision-maker' to 'validator.'"</a:t>
            </a:r>
            <a:endParaRPr lang="en-US" sz="1500" dirty="0"/>
          </a:p>
        </p:txBody>
      </p:sp>
      <p:sp>
        <p:nvSpPr>
          <p:cNvPr id="11" name="Trust calibration card"/>
          <p:cNvSpPr/>
          <p:nvPr/>
        </p:nvSpPr>
        <p:spPr>
          <a:xfrm>
            <a:off x="548640" y="4617720"/>
            <a:ext cx="3576218" cy="105156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rust calibration text"/>
          <p:cNvSpPr txBox="1"/>
          <p:nvPr/>
        </p:nvSpPr>
        <p:spPr>
          <a:xfrm>
            <a:off x="777240" y="4736592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calibration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confidence misleads: overtrust or ignored</a:t>
            </a:r>
            <a:endParaRPr lang="en-US" sz="1400" dirty="0"/>
          </a:p>
        </p:txBody>
      </p:sp>
      <p:sp>
        <p:nvSpPr>
          <p:cNvPr id="13" name="Attention card"/>
          <p:cNvSpPr/>
          <p:nvPr/>
        </p:nvSpPr>
        <p:spPr>
          <a:xfrm>
            <a:off x="4307738" y="4617720"/>
            <a:ext cx="3576218" cy="105156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Attention text"/>
          <p:cNvSpPr txBox="1"/>
          <p:nvPr/>
        </p:nvSpPr>
        <p:spPr>
          <a:xfrm>
            <a:off x="4536338" y="4736592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misses fake evidence; humans spot "too perfect"</a:t>
            </a:r>
            <a:endParaRPr lang="en-US" sz="1400" dirty="0"/>
          </a:p>
        </p:txBody>
      </p:sp>
      <p:sp>
        <p:nvSpPr>
          <p:cNvPr id="15" name="Meta-coordination card"/>
          <p:cNvSpPr/>
          <p:nvPr/>
        </p:nvSpPr>
        <p:spPr>
          <a:xfrm>
            <a:off x="8066837" y="4617720"/>
            <a:ext cx="3576218" cy="105156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Meta-coordination text"/>
          <p:cNvSpPr txBox="1"/>
          <p:nvPr/>
        </p:nvSpPr>
        <p:spPr>
          <a:xfrm>
            <a:off x="8295437" y="4736592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Meta-coordination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claims decision rights it should not hold</a:t>
            </a:r>
            <a:endParaRPr lang="en-US" sz="1400" dirty="0"/>
          </a:p>
        </p:txBody>
      </p:sp>
      <p:sp>
        <p:nvSpPr>
          <p:cNvPr id="17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matrix (6 dimensions): validation/GAP_ANALYSIS.md · Interview notes: validation/reflections/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Refined concept: what changed and why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2179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7744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Model's confidence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strength from the checks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95–100% on wrong answers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photo 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Authenticity check: "Not verified"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 caught the fake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photo → reviewer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ask the customer first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tools denied instead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 on low 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reasons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"filter cases intelligently"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appeal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a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asked, unprompted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Decision rights"/>
          <p:cNvSpPr txBox="1"/>
          <p:nvPr/>
        </p:nvSpPr>
        <p:spPr>
          <a:xfrm>
            <a:off x="548640" y="48920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rights, enforced: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recommends; only a person can deny.</a:t>
            </a:r>
            <a:endParaRPr lang="en-US" sz="1500" dirty="0"/>
          </a:p>
        </p:txBody>
      </p:sp>
      <p:pic>
        <p:nvPicPr>
          <p:cNvPr id="5" name="Prototype screenshot" descr="Prototype case page for R-216: Unverified photo banner, Escalate with Evidence Weak (3 of 6 checks clear), an Uncertain about list, a separate photo authenticity check marked not verified, the cited policy clause and customer 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325880"/>
            <a:ext cx="4553712" cy="3163824"/>
          </a:xfrm>
          <a:prstGeom prst="rect">
            <a:avLst/>
          </a:prstGeom>
        </p:spPr>
      </p:pic>
      <p:sp>
        <p:nvSpPr>
          <p:cNvPr id="6" name="Screenshot caption"/>
          <p:cNvSpPr txBox="1"/>
          <p:nvPr/>
        </p:nvSpPr>
        <p:spPr>
          <a:xfrm>
            <a:off x="7086600" y="457200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case page (R-216): unverified-photo banner, evidence strength, separate authenticity check</a:t>
            </a:r>
            <a:endParaRPr lang="en-US" sz="120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spec v1: DESIGN_SPEC.md · Prototype: prototype/ (IBM Carbon patterns) · Live demo follows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the path to Checkpoint 3</a:t>
            </a:r>
            <a:endParaRPr lang="en-US" sz="3200" dirty="0"/>
          </a:p>
        </p:txBody>
      </p:sp>
      <p:sp>
        <p:nvSpPr>
          <p:cNvPr id="3" name="Risks heading"/>
          <p:cNvSpPr txBox="1"/>
          <p:nvPr/>
        </p:nvSpPr>
        <p:spPr>
          <a:xfrm>
            <a:off x="54864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risks and safeguards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Safeguard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photos get through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Authenticity check; never auto-approved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Reviewers flooded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reasons; escalation rate 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Rubber-stamping the 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Deny dialog restates the basis; overrides logged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in model inputs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 and gender cues removed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P3 heading"/>
          <p:cNvSpPr txBox="1"/>
          <p:nvPr/>
        </p:nvSpPr>
        <p:spPr>
          <a:xfrm>
            <a:off x="6492240" y="132588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3: test complementarity</a:t>
            </a:r>
            <a:endParaRPr lang="en-US" sz="1600" dirty="0"/>
          </a:p>
        </p:txBody>
      </p:sp>
      <p:sp>
        <p:nvSpPr>
          <p:cNvPr id="6" name="Human alone condition"/>
          <p:cNvSpPr/>
          <p:nvPr/>
        </p:nvSpPr>
        <p:spPr>
          <a:xfrm>
            <a:off x="6492240" y="1737360"/>
            <a:ext cx="1595018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Human alone label"/>
          <p:cNvSpPr txBox="1"/>
          <p:nvPr/>
        </p:nvSpPr>
        <p:spPr>
          <a:xfrm>
            <a:off x="6492240" y="1737360"/>
            <a:ext cx="1595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alone</a:t>
            </a:r>
            <a:endParaRPr lang="en-US" sz="1500" dirty="0"/>
          </a:p>
        </p:txBody>
      </p:sp>
      <p:sp>
        <p:nvSpPr>
          <p:cNvPr id="8" name="AI alone condition"/>
          <p:cNvSpPr/>
          <p:nvPr/>
        </p:nvSpPr>
        <p:spPr>
          <a:xfrm>
            <a:off x="8270138" y="1737360"/>
            <a:ext cx="1595018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I alone label"/>
          <p:cNvSpPr txBox="1"/>
          <p:nvPr/>
        </p:nvSpPr>
        <p:spPr>
          <a:xfrm>
            <a:off x="8270138" y="1737360"/>
            <a:ext cx="1595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alone</a:t>
            </a:r>
            <a:endParaRPr lang="en-US" sz="1500" dirty="0"/>
          </a:p>
        </p:txBody>
      </p:sp>
      <p:sp>
        <p:nvSpPr>
          <p:cNvPr id="10" name="Hybrid condition"/>
          <p:cNvSpPr/>
          <p:nvPr/>
        </p:nvSpPr>
        <p:spPr>
          <a:xfrm>
            <a:off x="10048037" y="1737360"/>
            <a:ext cx="159501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Hybrid label"/>
          <p:cNvSpPr txBox="1"/>
          <p:nvPr/>
        </p:nvSpPr>
        <p:spPr>
          <a:xfrm>
            <a:off x="10048037" y="1737360"/>
            <a:ext cx="1595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500" dirty="0"/>
          </a:p>
        </p:txBody>
      </p:sp>
      <p:sp>
        <p:nvSpPr>
          <p:cNvPr id="12" name="Measures"/>
          <p:cNvSpPr txBox="1"/>
          <p:nvPr/>
        </p:nvSpPr>
        <p:spPr>
          <a:xfrm>
            <a:off x="6492240" y="2514600"/>
            <a:ext cx="5150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ground-truth cases in all three. Measure accuracy,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wrongful denials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fake-photo catch rate, human time per case, escalation rate.</a:t>
            </a:r>
            <a:endParaRPr lang="en-US" sz="1400" dirty="0"/>
          </a:p>
        </p:txBody>
      </p:sp>
      <p:sp>
        <p:nvSpPr>
          <p:cNvPr id="13" name="Success card"/>
          <p:cNvSpPr/>
          <p:nvPr/>
        </p:nvSpPr>
        <p:spPr>
          <a:xfrm>
            <a:off x="6492240" y="3520440"/>
            <a:ext cx="5150815" cy="1051560"/>
          </a:xfrm>
          <a:prstGeom prst="roundRect">
            <a:avLst>
              <a:gd name="adj" fmla="val 869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uccess"/>
          <p:cNvSpPr txBox="1"/>
          <p:nvPr/>
        </p:nvSpPr>
        <p:spPr>
          <a:xfrm>
            <a:off x="6720840" y="3639312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beats both on accuracy and wrongful denials, using less human time than human alone.</a:t>
            </a:r>
            <a:endParaRPr lang="en-US" sz="1500" dirty="0"/>
          </a:p>
        </p:txBody>
      </p:sp>
      <p:sp>
        <p:nvSpPr>
          <p:cNvPr id="15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attention and interrogation orchestration (Gonzalez et al.,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sources</a:t>
            </a:r>
            <a:endParaRPr lang="en-US" sz="3200" dirty="0"/>
          </a:p>
        </p:txBody>
      </p:sp>
      <p:sp>
        <p:nvSpPr>
          <p:cNvPr id="3" name="References"/>
          <p:cNvSpPr txBox="1"/>
          <p:nvPr/>
        </p:nvSpPr>
        <p:spPr>
          <a:xfrm>
            <a:off x="548640" y="1371600"/>
            <a:ext cx="110944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Gonzalez et al. (2026). 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science of human–AI teaming for decision making: A complementarity framework.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PNAS Nexus, 5(3), pgag030.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IBM. 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Design System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AI label, data table, and danger modal patterns. carbondesignsystem.com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 tested (free web versions, October 2026): ChatGPT (OpenAI), Claude (Anthropic), Gemini (Google), Qwen Chat (Alibaba).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photos: IMG-A, IMG-B and IMG-C from a Google Images search (original sources not recorded); IMG-F generated with Gemini.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prompts, transcripts, scoring, interview notes, and analysis: </a:t>
            </a:r>
            <a:pPr indent="0" marL="0">
              <a:spcAft>
                <a:spcPts val="1400"/>
              </a:spcAft>
              <a:buNone/>
            </a:pPr>
            <a:r>
              <a:rPr lang="en-US" sz="1700" u="sng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github.com/truptireddy23/AI_Returns_Processing_Assistant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(validation/)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urnGuard">
  <a:themeElements>
    <a:clrScheme name="ReturnGuard">
      <a:dk1>
        <a:srgbClr val="1B2230"/>
      </a:dk1>
      <a:lt1>
        <a:srgbClr val="FFFFFF"/>
      </a:lt1>
      <a:dk2>
        <a:srgbClr val="4F5768"/>
      </a:dk2>
      <a:lt2>
        <a:srgbClr val="F2F3F5"/>
      </a:lt2>
      <a:accent1>
        <a:srgbClr val="2F5BEA"/>
      </a:accent1>
      <a:accent2>
        <a:srgbClr val="B4481A"/>
      </a:accent2>
      <a:accent3>
        <a:srgbClr val="1F7A45"/>
      </a:accent3>
      <a:accent4>
        <a:srgbClr val="9DB6FF"/>
      </a:accent4>
      <a:accent5>
        <a:srgbClr val="E8EEFD"/>
      </a:accent5>
      <a:accent6>
        <a:srgbClr val="F8EDE7"/>
      </a:accent6>
      <a:hlink>
        <a:srgbClr val="2F5BEA"/>
      </a:hlink>
      <a:folHlink>
        <a:srgbClr val="6B4FBB"/>
      </a:folHlink>
    </a:clrScheme>
    <a:fontScheme name="Return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ReturnGuard Checkpoint 2</dc:title>
  <dc:subject>PptxGenJS Presentation</dc:subject>
  <dc:creator>Aditya Kamath, Trupti Reddy, Avni Wadhwani, Sharayu Jadhav</dc:creator>
  <cp:lastModifiedBy>Aditya Kamath, Trupti Reddy, Avni Wadhwani, Sharayu Jadhav</cp:lastModifiedBy>
  <cp:revision>1</cp:revision>
  <dcterms:created xsi:type="dcterms:W3CDTF">2026-10-09T01:22:43Z</dcterms:created>
  <dcterms:modified xsi:type="dcterms:W3CDTF">2026-10-09T01:22:43Z</dcterms:modified>
</cp:coreProperties>
</file>