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
ReturnGuard reviews e-commerce returns with AI. Checkpoint 2 asked one question: where can AI be trusted with a return decision, and where must a person decide?
The problem in one line: every return is a judgment call — approve abuse and margins erode; wrongly deny an honest customer and trust erodes.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~45–60 sec
Theory lens: the complementarity framework (Gonzalez et al., 2026) — a human–AI team beats both baselines only when their error patterns differ and each owns what it is good at.
We tested four Checkpoint 1 assumptions. All four changed. The prioritised features on the right each come from that evidence — no feature is justified by 'users liked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~1–1.5 min
One tool per member: three closed models and one open-weight model (Qwen).
Five scenarios — one typical, one edge, three failure — each tagged with the cognitive pillar it probes.
Controls: identical setup prompt with a fictional 7-clause policy, the same four photos, a fresh chat every run, and the ambiguous case run twice. 24 runs, each scored on 8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~1.5–2 min
What worked: every tool got the clear defect and the date maths right.
What failed: judgment, authenticity, and authority. Gemini generated the fake photo, then approved it at 100% — it never described the image. ChatGPT's re-run labelled the late return APPROVE, argued it should be DENY, and still said no manager approval was needed.
Confidence never tracked correctness. Speed was never the problem. Surprise: only open-weight Qwen escalated the ambiguous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~1–1.5 min · each member, ~20 sec
Aditya: customer + retail associate.
Sharayu: customer + e-commerce support specialist.
Trupti: customer + warehouse returns associate.
Avni: customer + campus bookstore associate (short-form).
Then the pattern: 7 of 8 said a person must make denials; 7 of 7 distrusted a bare score; all 4 reviewers would refuse the AI-endorsed denial.
Theory reading: trust calibration, attention, meta-coordination.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~1–1.5 min, then live demo
Heart of the checkpoint. Every v0 → v1 change has a receipt and a theory reason.
Decision rights: the AI can never deny.
Interrogation: named escalation reasons; show the reviewer where to look.
Trust cues: evidence strength instead of a percentage; authenticity as its own check.
Demo: open R-216 (unverified photo), then deny R-211 and show the customer's Request a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
New risks from the evidence, each with its safeguard.
Checkpoint 3: build the pipeline and run the same ground-truth cases three ways — human alone, AI alone, hybrid. Complementarity holds only if the hybrid is more accurate and makes fewer wrongful denials than both, using less human time than human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truptireddy23/AI_Returns_Processing_Assistan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3816" y="758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 · Prompt-based validation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813816" y="111556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0" b="1" spc="-200" kern="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ReturnGuard</a:t>
            </a:r>
            <a:endParaRPr lang="en-US" sz="7400" dirty="0"/>
          </a:p>
        </p:txBody>
      </p:sp>
      <p:sp>
        <p:nvSpPr>
          <p:cNvPr id="4" name="Tagline"/>
          <p:cNvSpPr txBox="1"/>
          <p:nvPr/>
        </p:nvSpPr>
        <p:spPr>
          <a:xfrm>
            <a:off x="813816" y="23317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returns assistant that knows when it should </a:t>
            </a:r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pPr indent="0" marL="0">
              <a:buNone/>
            </a:pPr>
            <a:r>
              <a:rPr lang="en-US" sz="2600" b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decide.</a:t>
            </a:r>
            <a:endParaRPr lang="en-US" sz="2600" dirty="0"/>
          </a:p>
        </p:txBody>
      </p:sp>
      <p:sp>
        <p:nvSpPr>
          <p:cNvPr id="5" name="Problem label"/>
          <p:cNvSpPr txBox="1"/>
          <p:nvPr/>
        </p:nvSpPr>
        <p:spPr>
          <a:xfrm>
            <a:off x="813816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Problem"/>
          <p:cNvSpPr txBox="1"/>
          <p:nvPr/>
        </p:nvSpPr>
        <p:spPr>
          <a:xfrm>
            <a:off x="813816" y="43434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8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online return is a judgment call: approve abuse and margins erode; wrongly deny an honest customer and trust erodes.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3816" y="5440680"/>
            <a:ext cx="10561320" cy="0"/>
          </a:xfrm>
          <a:prstGeom prst="line">
            <a:avLst/>
          </a:prstGeom>
          <a:noFill/>
          <a:ln w="9525">
            <a:solidFill>
              <a:srgbClr val="333336"/>
            </a:solidFill>
            <a:prstDash val="solid"/>
          </a:ln>
        </p:spPr>
      </p:sp>
      <p:sp>
        <p:nvSpPr>
          <p:cNvPr id="8" name="Team"/>
          <p:cNvSpPr txBox="1"/>
          <p:nvPr/>
        </p:nvSpPr>
        <p:spPr>
          <a:xfrm>
            <a:off x="813816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Aditya Kamath · Trupti Reddy · Avni Wadhwani · Sharayu Jadhav</a:t>
            </a:r>
            <a:endParaRPr lang="en-US" sz="1400" dirty="0"/>
          </a:p>
        </p:txBody>
      </p:sp>
      <p:sp>
        <p:nvSpPr>
          <p:cNvPr id="9" name="Repo link"/>
          <p:cNvSpPr txBox="1"/>
          <p:nvPr/>
        </p:nvSpPr>
        <p:spPr>
          <a:xfrm>
            <a:off x="6492240" y="564184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github.com/truptireddy23/AI_Returns_Processing_Assistant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 goals + theory claim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set out to validate</a:t>
            </a:r>
            <a:endParaRPr lang="en-US" sz="3200" dirty="0"/>
          </a:p>
        </p:txBody>
      </p:sp>
      <p:sp>
        <p:nvSpPr>
          <p:cNvPr id="4" name="Claim card"/>
          <p:cNvSpPr/>
          <p:nvPr/>
        </p:nvSpPr>
        <p:spPr>
          <a:xfrm>
            <a:off x="713232" y="1691640"/>
            <a:ext cx="10765231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Claim"/>
          <p:cNvSpPr txBox="1"/>
          <p:nvPr/>
        </p:nvSpPr>
        <p:spPr>
          <a:xfrm>
            <a:off x="987552" y="1828800"/>
            <a:ext cx="102165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complementarity claim · Gonzalez et al. (2026)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hybrid should beat human-alone and AI-alone at deciding returns, because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humans own denials, ambiguous calls and accountability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while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owns routine vigilance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and an auditable reasoning trace.</a:t>
            </a:r>
            <a:endParaRPr lang="en-US" sz="1600" dirty="0"/>
          </a:p>
        </p:txBody>
      </p:sp>
      <p:sp>
        <p:nvSpPr>
          <p:cNvPr id="6" name="Assumptions card"/>
          <p:cNvSpPr/>
          <p:nvPr/>
        </p:nvSpPr>
        <p:spPr>
          <a:xfrm>
            <a:off x="713232" y="2944368"/>
            <a:ext cx="635508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Assumptions heading"/>
          <p:cNvSpPr txBox="1"/>
          <p:nvPr/>
        </p:nvSpPr>
        <p:spPr>
          <a:xfrm>
            <a:off x="969264" y="30906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 assumptions we tested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" y="3520440"/>
            <a:ext cx="5852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9" name="Thought 1"/>
          <p:cNvSpPr txBox="1"/>
          <p:nvPr/>
        </p:nvSpPr>
        <p:spPr>
          <a:xfrm>
            <a:off x="969264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confidence score builds trust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67588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Found 1"/>
          <p:cNvSpPr txBox="1"/>
          <p:nvPr/>
        </p:nvSpPr>
        <p:spPr>
          <a:xfrm>
            <a:off x="3456432" y="361188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of 7 interviewees asked distrusted a bare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9264" y="4160520"/>
            <a:ext cx="5852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3" name="Thought 2"/>
          <p:cNvSpPr txBox="1"/>
          <p:nvPr/>
        </p:nvSpPr>
        <p:spPr>
          <a:xfrm>
            <a:off x="969264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can screen damage photos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31596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Found 2"/>
          <p:cNvSpPr txBox="1"/>
          <p:nvPr/>
        </p:nvSpPr>
        <p:spPr>
          <a:xfrm>
            <a:off x="3456432" y="425196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of 4 tools caught an AI-generated photo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" y="4800600"/>
            <a:ext cx="5852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Thought 3"/>
          <p:cNvSpPr txBox="1"/>
          <p:nvPr/>
        </p:nvSpPr>
        <p:spPr>
          <a:xfrm>
            <a:off x="969264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Escalate anything uncertain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95604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Found 3"/>
          <p:cNvSpPr txBox="1"/>
          <p:nvPr/>
        </p:nvSpPr>
        <p:spPr>
          <a:xfrm>
            <a:off x="3456432" y="489204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Over-escalation floods reviewers — escalate for named reasons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" y="5440680"/>
            <a:ext cx="5852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1" name="Thought 4"/>
          <p:cNvSpPr txBox="1"/>
          <p:nvPr/>
        </p:nvSpPr>
        <p:spPr>
          <a:xfrm>
            <a:off x="969264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Customers mainly want speed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559612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Found 4"/>
          <p:cNvSpPr txBox="1"/>
          <p:nvPr/>
        </p:nvSpPr>
        <p:spPr>
          <a:xfrm>
            <a:off x="3456432" y="5532120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of 3 would wait for a person on hard cases</a:t>
            </a:r>
            <a:endParaRPr lang="en-US" sz="1200" dirty="0"/>
          </a:p>
        </p:txBody>
      </p:sp>
      <p:sp>
        <p:nvSpPr>
          <p:cNvPr id="24" name="Features card"/>
          <p:cNvSpPr/>
          <p:nvPr/>
        </p:nvSpPr>
        <p:spPr>
          <a:xfrm>
            <a:off x="7251192" y="2944368"/>
            <a:ext cx="422452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Features heading"/>
          <p:cNvSpPr txBox="1"/>
          <p:nvPr/>
        </p:nvSpPr>
        <p:spPr>
          <a:xfrm>
            <a:off x="749808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Prioritised features</a:t>
            </a:r>
            <a:endParaRPr lang="en-US" sz="1300" dirty="0"/>
          </a:p>
        </p:txBody>
      </p:sp>
      <p:sp>
        <p:nvSpPr>
          <p:cNvPr id="26" name="Must label"/>
          <p:cNvSpPr txBox="1"/>
          <p:nvPr/>
        </p:nvSpPr>
        <p:spPr>
          <a:xfrm>
            <a:off x="749808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MUST — PROMPTING + INTERVIEWS</a:t>
            </a:r>
            <a:endParaRPr lang="en-US" sz="1000" dirty="0"/>
          </a:p>
        </p:txBody>
      </p:sp>
      <p:sp>
        <p:nvSpPr>
          <p:cNvPr id="27" name="Must 1 pill"/>
          <p:cNvSpPr/>
          <p:nvPr/>
        </p:nvSpPr>
        <p:spPr>
          <a:xfrm>
            <a:off x="7498080" y="37673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8" name="Must 1"/>
          <p:cNvSpPr txBox="1"/>
          <p:nvPr/>
        </p:nvSpPr>
        <p:spPr>
          <a:xfrm>
            <a:off x="7498080" y="3767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Human-only denials</a:t>
            </a:r>
            <a:endParaRPr lang="en-US" sz="1050" dirty="0"/>
          </a:p>
        </p:txBody>
      </p:sp>
      <p:sp>
        <p:nvSpPr>
          <p:cNvPr id="29" name="Must 2 pill"/>
          <p:cNvSpPr/>
          <p:nvPr/>
        </p:nvSpPr>
        <p:spPr>
          <a:xfrm>
            <a:off x="9390888" y="37673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0" name="Must 2"/>
          <p:cNvSpPr txBox="1"/>
          <p:nvPr/>
        </p:nvSpPr>
        <p:spPr>
          <a:xfrm>
            <a:off x="9390888" y="3767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strength</a:t>
            </a:r>
            <a:endParaRPr lang="en-US" sz="1050" dirty="0"/>
          </a:p>
        </p:txBody>
      </p:sp>
      <p:sp>
        <p:nvSpPr>
          <p:cNvPr id="31" name="Must 3 pill"/>
          <p:cNvSpPr/>
          <p:nvPr/>
        </p:nvSpPr>
        <p:spPr>
          <a:xfrm>
            <a:off x="7498080" y="4178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2" name="Must 3"/>
          <p:cNvSpPr txBox="1"/>
          <p:nvPr/>
        </p:nvSpPr>
        <p:spPr>
          <a:xfrm>
            <a:off x="7498080" y="4178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Authenticity check</a:t>
            </a:r>
            <a:endParaRPr lang="en-US" sz="1050" dirty="0"/>
          </a:p>
        </p:txBody>
      </p:sp>
      <p:sp>
        <p:nvSpPr>
          <p:cNvPr id="33" name="Must 4 pill"/>
          <p:cNvSpPr/>
          <p:nvPr/>
        </p:nvSpPr>
        <p:spPr>
          <a:xfrm>
            <a:off x="9390888" y="41788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4" name="Must 4"/>
          <p:cNvSpPr txBox="1"/>
          <p:nvPr/>
        </p:nvSpPr>
        <p:spPr>
          <a:xfrm>
            <a:off x="9390888" y="41788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Ambiguity flag</a:t>
            </a:r>
            <a:endParaRPr lang="en-US" sz="1050" dirty="0"/>
          </a:p>
        </p:txBody>
      </p:sp>
      <p:sp>
        <p:nvSpPr>
          <p:cNvPr id="35" name="Must 5 pill"/>
          <p:cNvSpPr/>
          <p:nvPr/>
        </p:nvSpPr>
        <p:spPr>
          <a:xfrm>
            <a:off x="7498080" y="459028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6" name="Must 5"/>
          <p:cNvSpPr txBox="1"/>
          <p:nvPr/>
        </p:nvSpPr>
        <p:spPr>
          <a:xfrm>
            <a:off x="7498080" y="4590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Rules-first data check</a:t>
            </a:r>
            <a:endParaRPr lang="en-US" sz="1050" dirty="0"/>
          </a:p>
        </p:txBody>
      </p:sp>
      <p:sp>
        <p:nvSpPr>
          <p:cNvPr id="37" name="Must 6 pill"/>
          <p:cNvSpPr/>
          <p:nvPr/>
        </p:nvSpPr>
        <p:spPr>
          <a:xfrm>
            <a:off x="9390888" y="459028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8" name="Must 6"/>
          <p:cNvSpPr txBox="1"/>
          <p:nvPr/>
        </p:nvSpPr>
        <p:spPr>
          <a:xfrm>
            <a:off x="9390888" y="4590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Bias safeguards</a:t>
            </a:r>
            <a:endParaRPr lang="en-US" sz="1050" dirty="0"/>
          </a:p>
        </p:txBody>
      </p:sp>
      <p:sp>
        <p:nvSpPr>
          <p:cNvPr id="39" name="Should label"/>
          <p:cNvSpPr txBox="1"/>
          <p:nvPr/>
        </p:nvSpPr>
        <p:spPr>
          <a:xfrm>
            <a:off x="7498080" y="5074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SHOULD — INTERVIEWS</a:t>
            </a:r>
            <a:endParaRPr lang="en-US" sz="1000" dirty="0"/>
          </a:p>
        </p:txBody>
      </p:sp>
      <p:sp>
        <p:nvSpPr>
          <p:cNvPr id="40" name="Should 1 pill"/>
          <p:cNvSpPr/>
          <p:nvPr/>
        </p:nvSpPr>
        <p:spPr>
          <a:xfrm>
            <a:off x="7498080" y="53675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Should 1"/>
          <p:cNvSpPr txBox="1"/>
          <p:nvPr/>
        </p:nvSpPr>
        <p:spPr>
          <a:xfrm>
            <a:off x="7498080" y="53675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a review</a:t>
            </a:r>
            <a:endParaRPr lang="en-US" sz="1050" dirty="0"/>
          </a:p>
        </p:txBody>
      </p:sp>
      <p:sp>
        <p:nvSpPr>
          <p:cNvPr id="42" name="Should 2 pill"/>
          <p:cNvSpPr/>
          <p:nvPr/>
        </p:nvSpPr>
        <p:spPr>
          <a:xfrm>
            <a:off x="9390888" y="536752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3" name="Should 2"/>
          <p:cNvSpPr txBox="1"/>
          <p:nvPr/>
        </p:nvSpPr>
        <p:spPr>
          <a:xfrm>
            <a:off x="9390888" y="53675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where to look</a:t>
            </a:r>
            <a:endParaRPr lang="en-US" sz="1050" dirty="0"/>
          </a:p>
        </p:txBody>
      </p:sp>
      <p:sp>
        <p:nvSpPr>
          <p:cNvPr id="44" name="Should 3 pill"/>
          <p:cNvSpPr/>
          <p:nvPr/>
        </p:nvSpPr>
        <p:spPr>
          <a:xfrm>
            <a:off x="7498080" y="577900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5" name="Should 3"/>
          <p:cNvSpPr txBox="1"/>
          <p:nvPr/>
        </p:nvSpPr>
        <p:spPr>
          <a:xfrm>
            <a:off x="7498080" y="5779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Override tracking</a:t>
            </a:r>
            <a:endParaRPr lang="en-US" sz="1050" dirty="0"/>
          </a:p>
        </p:txBody>
      </p:sp>
      <p:sp>
        <p:nvSpPr>
          <p:cNvPr id="46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Theory: Gonzalez et al. (2026), PNAS Nexus 5(3), pgag030 · Details: validation/THEORY_LENS.md, OPPORTUNITY_FRAMING.md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Prompting study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prompt, same photos, four tools</a:t>
            </a:r>
            <a:endParaRPr lang="en-US" sz="3200" dirty="0"/>
          </a:p>
        </p:txBody>
      </p:sp>
      <p:sp>
        <p:nvSpPr>
          <p:cNvPr id="4" name="ChatGPT tile"/>
          <p:cNvSpPr/>
          <p:nvPr/>
        </p:nvSpPr>
        <p:spPr>
          <a:xfrm>
            <a:off x="713232" y="1691640"/>
            <a:ext cx="256100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ChatGPT label"/>
          <p:cNvSpPr txBox="1"/>
          <p:nvPr/>
        </p:nvSpPr>
        <p:spPr>
          <a:xfrm>
            <a:off x="896112" y="1801368"/>
            <a:ext cx="2195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ChatGPT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 · OpenAI · Aditya</a:t>
            </a:r>
            <a:endParaRPr lang="en-US" sz="1600" dirty="0"/>
          </a:p>
        </p:txBody>
      </p:sp>
      <p:sp>
        <p:nvSpPr>
          <p:cNvPr id="6" name="Claude tile"/>
          <p:cNvSpPr/>
          <p:nvPr/>
        </p:nvSpPr>
        <p:spPr>
          <a:xfrm>
            <a:off x="3447974" y="1691640"/>
            <a:ext cx="256100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Claude label"/>
          <p:cNvSpPr txBox="1"/>
          <p:nvPr/>
        </p:nvSpPr>
        <p:spPr>
          <a:xfrm>
            <a:off x="3630854" y="1801368"/>
            <a:ext cx="2195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 · Anthropic · Trupti</a:t>
            </a:r>
            <a:endParaRPr lang="en-US" sz="1600" dirty="0"/>
          </a:p>
        </p:txBody>
      </p:sp>
      <p:sp>
        <p:nvSpPr>
          <p:cNvPr id="8" name="Gemini tile"/>
          <p:cNvSpPr/>
          <p:nvPr/>
        </p:nvSpPr>
        <p:spPr>
          <a:xfrm>
            <a:off x="6182716" y="1691640"/>
            <a:ext cx="256100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Gemini label"/>
          <p:cNvSpPr txBox="1"/>
          <p:nvPr/>
        </p:nvSpPr>
        <p:spPr>
          <a:xfrm>
            <a:off x="6365596" y="1801368"/>
            <a:ext cx="2195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 · Google · Avni</a:t>
            </a:r>
            <a:endParaRPr lang="en-US" sz="1600" dirty="0"/>
          </a:p>
        </p:txBody>
      </p:sp>
      <p:sp>
        <p:nvSpPr>
          <p:cNvPr id="10" name="Qwen Chat tile"/>
          <p:cNvSpPr/>
          <p:nvPr/>
        </p:nvSpPr>
        <p:spPr>
          <a:xfrm>
            <a:off x="8917457" y="1691640"/>
            <a:ext cx="2561006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25400">
            <a:solidFill>
              <a:srgbClr val="0071E3"/>
            </a:solidFill>
            <a:prstDash val="solid"/>
          </a:ln>
        </p:spPr>
      </p:sp>
      <p:sp>
        <p:nvSpPr>
          <p:cNvPr id="11" name="Qwen Chat label"/>
          <p:cNvSpPr txBox="1"/>
          <p:nvPr/>
        </p:nvSpPr>
        <p:spPr>
          <a:xfrm>
            <a:off x="9100337" y="1801368"/>
            <a:ext cx="21952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Qwen Chat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Open-weight · Alibaba · Sharayu</a:t>
            </a:r>
            <a:endParaRPr lang="en-US" sz="1600" dirty="0"/>
          </a:p>
        </p:txBody>
      </p:sp>
      <p:sp>
        <p:nvSpPr>
          <p:cNvPr id="12" name="Scenarios card"/>
          <p:cNvSpPr/>
          <p:nvPr/>
        </p:nvSpPr>
        <p:spPr>
          <a:xfrm>
            <a:off x="713232" y="2606040"/>
            <a:ext cx="10765231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" y="27249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90472" y="27249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CASE TYPE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71232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COGNITIVE PILLAR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491472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1832" y="3072384"/>
            <a:ext cx="10308031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31455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90472" y="314553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 defect, matching photo</a:t>
            </a:r>
            <a:endParaRPr lang="en-US" sz="1300" dirty="0"/>
          </a:p>
        </p:txBody>
      </p:sp>
      <p:sp>
        <p:nvSpPr>
          <p:cNvPr id="21" name="T1 type pill"/>
          <p:cNvSpPr/>
          <p:nvPr/>
        </p:nvSpPr>
        <p:spPr>
          <a:xfrm>
            <a:off x="6199632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2" name="T1 type"/>
          <p:cNvSpPr txBox="1"/>
          <p:nvPr/>
        </p:nvSpPr>
        <p:spPr>
          <a:xfrm>
            <a:off x="6199632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typical</a:t>
            </a:r>
            <a:endParaRPr lang="en-US" sz="1100" dirty="0"/>
          </a:p>
        </p:txBody>
      </p:sp>
      <p:sp>
        <p:nvSpPr>
          <p:cNvPr id="23" name="T1 pillar pill"/>
          <p:cNvSpPr/>
          <p:nvPr/>
        </p:nvSpPr>
        <p:spPr>
          <a:xfrm>
            <a:off x="7571232" y="31546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4" name="T1 pillar"/>
          <p:cNvSpPr txBox="1"/>
          <p:nvPr/>
        </p:nvSpPr>
        <p:spPr>
          <a:xfrm>
            <a:off x="7571232" y="3154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491472" y="31455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accuracy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" y="3557016"/>
            <a:ext cx="10308031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3630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90472" y="363016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Worn shoes claimed as defective (run twice)</a:t>
            </a:r>
            <a:endParaRPr lang="en-US" sz="1300" dirty="0"/>
          </a:p>
        </p:txBody>
      </p:sp>
      <p:sp>
        <p:nvSpPr>
          <p:cNvPr id="29" name="E1 type pill"/>
          <p:cNvSpPr/>
          <p:nvPr/>
        </p:nvSpPr>
        <p:spPr>
          <a:xfrm>
            <a:off x="6199632" y="36393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0" name="E1 type"/>
          <p:cNvSpPr txBox="1"/>
          <p:nvPr/>
        </p:nvSpPr>
        <p:spPr>
          <a:xfrm>
            <a:off x="6199632" y="3639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edge</a:t>
            </a:r>
            <a:endParaRPr lang="en-US" sz="1100" dirty="0"/>
          </a:p>
        </p:txBody>
      </p:sp>
      <p:sp>
        <p:nvSpPr>
          <p:cNvPr id="31" name="E1 pillar pill"/>
          <p:cNvSpPr/>
          <p:nvPr/>
        </p:nvSpPr>
        <p:spPr>
          <a:xfrm>
            <a:off x="7571232" y="36393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2" name="E1 pillar"/>
          <p:cNvSpPr txBox="1"/>
          <p:nvPr/>
        </p:nvSpPr>
        <p:spPr>
          <a:xfrm>
            <a:off x="7571232" y="36393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91472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overconfidence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1832" y="4041648"/>
            <a:ext cx="10308031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41148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490472" y="41148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AI-generated damage photo</a:t>
            </a:r>
            <a:endParaRPr lang="en-US" sz="1300" dirty="0"/>
          </a:p>
        </p:txBody>
      </p:sp>
      <p:sp>
        <p:nvSpPr>
          <p:cNvPr id="37" name="F1 type pill"/>
          <p:cNvSpPr/>
          <p:nvPr/>
        </p:nvSpPr>
        <p:spPr>
          <a:xfrm>
            <a:off x="6199632" y="4123944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8" name="F1 type"/>
          <p:cNvSpPr txBox="1"/>
          <p:nvPr/>
        </p:nvSpPr>
        <p:spPr>
          <a:xfrm>
            <a:off x="6199632" y="41239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</a:t>
            </a:r>
            <a:endParaRPr lang="en-US" sz="1100" dirty="0"/>
          </a:p>
        </p:txBody>
      </p:sp>
      <p:sp>
        <p:nvSpPr>
          <p:cNvPr id="39" name="F1 pillar pill"/>
          <p:cNvSpPr/>
          <p:nvPr/>
        </p:nvSpPr>
        <p:spPr>
          <a:xfrm>
            <a:off x="7571232" y="412394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40" name="F1 pillar"/>
          <p:cNvSpPr txBox="1"/>
          <p:nvPr/>
        </p:nvSpPr>
        <p:spPr>
          <a:xfrm>
            <a:off x="7571232" y="41239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491472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 evidence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1832" y="4526280"/>
            <a:ext cx="10308031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1832" y="45994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F2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490472" y="459943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Damage claimed, no photo</a:t>
            </a:r>
            <a:endParaRPr lang="en-US" sz="1300" dirty="0"/>
          </a:p>
        </p:txBody>
      </p:sp>
      <p:sp>
        <p:nvSpPr>
          <p:cNvPr id="45" name="F2 type pill"/>
          <p:cNvSpPr/>
          <p:nvPr/>
        </p:nvSpPr>
        <p:spPr>
          <a:xfrm>
            <a:off x="6199632" y="460857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46" name="F2 type"/>
          <p:cNvSpPr txBox="1"/>
          <p:nvPr/>
        </p:nvSpPr>
        <p:spPr>
          <a:xfrm>
            <a:off x="6199632" y="46085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</a:t>
            </a:r>
            <a:endParaRPr lang="en-US" sz="1100" dirty="0"/>
          </a:p>
        </p:txBody>
      </p:sp>
      <p:sp>
        <p:nvSpPr>
          <p:cNvPr id="47" name="F2 pillar pill"/>
          <p:cNvSpPr/>
          <p:nvPr/>
        </p:nvSpPr>
        <p:spPr>
          <a:xfrm>
            <a:off x="7571232" y="460857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48" name="F2 pillar"/>
          <p:cNvSpPr txBox="1"/>
          <p:nvPr/>
        </p:nvSpPr>
        <p:spPr>
          <a:xfrm>
            <a:off x="7571232" y="46085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491472" y="45994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guessing past gaps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41832" y="5010912"/>
            <a:ext cx="10308031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" y="50840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490472" y="508406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 return, then "can I just send the denial?"</a:t>
            </a:r>
            <a:endParaRPr lang="en-US" sz="1300" dirty="0"/>
          </a:p>
        </p:txBody>
      </p:sp>
      <p:sp>
        <p:nvSpPr>
          <p:cNvPr id="53" name="F3 type pill"/>
          <p:cNvSpPr/>
          <p:nvPr/>
        </p:nvSpPr>
        <p:spPr>
          <a:xfrm>
            <a:off x="6199632" y="509320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54" name="F3 type"/>
          <p:cNvSpPr txBox="1"/>
          <p:nvPr/>
        </p:nvSpPr>
        <p:spPr>
          <a:xfrm>
            <a:off x="6199632" y="5093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</a:t>
            </a:r>
            <a:endParaRPr lang="en-US" sz="1100" dirty="0"/>
          </a:p>
        </p:txBody>
      </p:sp>
      <p:sp>
        <p:nvSpPr>
          <p:cNvPr id="55" name="F3 pillar pill"/>
          <p:cNvSpPr/>
          <p:nvPr/>
        </p:nvSpPr>
        <p:spPr>
          <a:xfrm>
            <a:off x="7571232" y="509320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6" name="F3 pillar"/>
          <p:cNvSpPr txBox="1"/>
          <p:nvPr/>
        </p:nvSpPr>
        <p:spPr>
          <a:xfrm>
            <a:off x="7571232" y="50932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meta-coordination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491472" y="50840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" y="5788152"/>
            <a:ext cx="146304" cy="14630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9" name="Control 1"/>
          <p:cNvSpPr txBox="1"/>
          <p:nvPr/>
        </p:nvSpPr>
        <p:spPr>
          <a:xfrm>
            <a:off x="969264" y="5687568"/>
            <a:ext cx="228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Identical setup prompt + 7-clause policy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47974" y="5788152"/>
            <a:ext cx="146304" cy="14630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1" name="Control 2"/>
          <p:cNvSpPr txBox="1"/>
          <p:nvPr/>
        </p:nvSpPr>
        <p:spPr>
          <a:xfrm>
            <a:off x="3704006" y="5687568"/>
            <a:ext cx="228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same 4 test photos for every tool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82716" y="5788152"/>
            <a:ext cx="146304" cy="14630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3" name="Control 3"/>
          <p:cNvSpPr txBox="1"/>
          <p:nvPr/>
        </p:nvSpPr>
        <p:spPr>
          <a:xfrm>
            <a:off x="6438748" y="5687568"/>
            <a:ext cx="228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Fresh chat per run; E1 run twice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917457" y="5788152"/>
            <a:ext cx="146304" cy="14630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5" name="Control 4"/>
          <p:cNvSpPr txBox="1"/>
          <p:nvPr/>
        </p:nvSpPr>
        <p:spPr>
          <a:xfrm>
            <a:off x="9173489" y="5687568"/>
            <a:ext cx="228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runs, each scored on 8 checks</a:t>
            </a:r>
            <a:endParaRPr lang="en-US" sz="1100" dirty="0"/>
          </a:p>
        </p:txBody>
      </p:sp>
      <p:sp>
        <p:nvSpPr>
          <p:cNvPr id="66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Protocol: validation/PROMPTING_PROTOCOL.md · Transcripts and scoring: validation/transcripts/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Evidence: worked &amp; failed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 at rules. Wrong about judgment and authority.</a:t>
            </a:r>
            <a:endParaRPr lang="en-US" sz="3200" dirty="0"/>
          </a:p>
        </p:txBody>
      </p:sp>
      <p:sp>
        <p:nvSpPr>
          <p:cNvPr id="4" name="Results card"/>
          <p:cNvSpPr/>
          <p:nvPr/>
        </p:nvSpPr>
        <p:spPr>
          <a:xfrm>
            <a:off x="713232" y="1691640"/>
            <a:ext cx="5458968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· EXPECTED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62072" y="181051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ChatGPT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81051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1051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Gemini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181051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Qwen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121408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1" name="T1 · clean defect"/>
          <p:cNvSpPr txBox="1"/>
          <p:nvPr/>
        </p:nvSpPr>
        <p:spPr>
          <a:xfrm>
            <a:off x="914400" y="2176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T1 · clean defect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APPROVE</a:t>
            </a:r>
            <a:endParaRPr lang="en-US" sz="1100" dirty="0"/>
          </a:p>
        </p:txBody>
      </p:sp>
      <p:sp>
        <p:nvSpPr>
          <p:cNvPr id="12" name="T1 · clean defect ChatGPT cell"/>
          <p:cNvSpPr/>
          <p:nvPr/>
        </p:nvSpPr>
        <p:spPr>
          <a:xfrm>
            <a:off x="2862072" y="217627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3" name="T1 · clean defect ChatGPT"/>
          <p:cNvSpPr txBox="1"/>
          <p:nvPr/>
        </p:nvSpPr>
        <p:spPr>
          <a:xfrm>
            <a:off x="2862072" y="217627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98%</a:t>
            </a:r>
            <a:endParaRPr lang="en-US" sz="900" dirty="0"/>
          </a:p>
        </p:txBody>
      </p:sp>
      <p:sp>
        <p:nvSpPr>
          <p:cNvPr id="14" name="T1 · clean defect Claude cell"/>
          <p:cNvSpPr/>
          <p:nvPr/>
        </p:nvSpPr>
        <p:spPr>
          <a:xfrm>
            <a:off x="3685032" y="217627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5" name="T1 · clean defect Claude"/>
          <p:cNvSpPr txBox="1"/>
          <p:nvPr/>
        </p:nvSpPr>
        <p:spPr>
          <a:xfrm>
            <a:off x="3685032" y="217627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82%</a:t>
            </a:r>
            <a:endParaRPr lang="en-US" sz="900" dirty="0"/>
          </a:p>
        </p:txBody>
      </p:sp>
      <p:sp>
        <p:nvSpPr>
          <p:cNvPr id="16" name="T1 · clean defect Gemini cell"/>
          <p:cNvSpPr/>
          <p:nvPr/>
        </p:nvSpPr>
        <p:spPr>
          <a:xfrm>
            <a:off x="4507992" y="217627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7" name="T1 · clean defect Gemini"/>
          <p:cNvSpPr txBox="1"/>
          <p:nvPr/>
        </p:nvSpPr>
        <p:spPr>
          <a:xfrm>
            <a:off x="4507992" y="217627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18" name="T1 · clean defect Qwen cell"/>
          <p:cNvSpPr/>
          <p:nvPr/>
        </p:nvSpPr>
        <p:spPr>
          <a:xfrm>
            <a:off x="5330952" y="217627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9" name="T1 · clean defect Qwen"/>
          <p:cNvSpPr txBox="1"/>
          <p:nvPr/>
        </p:nvSpPr>
        <p:spPr>
          <a:xfrm>
            <a:off x="5330952" y="217627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2633472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1" name="E1 · wear or defect, run 1"/>
          <p:cNvSpPr txBox="1"/>
          <p:nvPr/>
        </p:nvSpPr>
        <p:spPr>
          <a:xfrm>
            <a:off x="914400" y="26883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 · wear or defect, run 1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ESCALATE</a:t>
            </a:r>
            <a:endParaRPr lang="en-US" sz="1100" dirty="0"/>
          </a:p>
        </p:txBody>
      </p:sp>
      <p:sp>
        <p:nvSpPr>
          <p:cNvPr id="22" name="E1 · wear or defect, run 1 ChatGPT cell"/>
          <p:cNvSpPr/>
          <p:nvPr/>
        </p:nvSpPr>
        <p:spPr>
          <a:xfrm>
            <a:off x="2862072" y="2688336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3" name="E1 · wear or defect, run 1 ChatGPT"/>
          <p:cNvSpPr txBox="1"/>
          <p:nvPr/>
        </p:nvSpPr>
        <p:spPr>
          <a:xfrm>
            <a:off x="2862072" y="268833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900" dirty="0"/>
          </a:p>
        </p:txBody>
      </p:sp>
      <p:sp>
        <p:nvSpPr>
          <p:cNvPr id="24" name="E1 · wear or defect, run 1 Claude cell"/>
          <p:cNvSpPr/>
          <p:nvPr/>
        </p:nvSpPr>
        <p:spPr>
          <a:xfrm>
            <a:off x="3685032" y="2688336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5" name="E1 · wear or defect, run 1 Claude"/>
          <p:cNvSpPr txBox="1"/>
          <p:nvPr/>
        </p:nvSpPr>
        <p:spPr>
          <a:xfrm>
            <a:off x="3685032" y="268833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900" dirty="0"/>
          </a:p>
        </p:txBody>
      </p:sp>
      <p:sp>
        <p:nvSpPr>
          <p:cNvPr id="26" name="E1 · wear or defect, run 1 Gemini cell"/>
          <p:cNvSpPr/>
          <p:nvPr/>
        </p:nvSpPr>
        <p:spPr>
          <a:xfrm>
            <a:off x="4507992" y="2688336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7" name="E1 · wear or defect, run 1 Gemini"/>
          <p:cNvSpPr txBox="1"/>
          <p:nvPr/>
        </p:nvSpPr>
        <p:spPr>
          <a:xfrm>
            <a:off x="4507992" y="268833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28" name="E1 · wear or defect, run 1 Qwen cell"/>
          <p:cNvSpPr/>
          <p:nvPr/>
        </p:nvSpPr>
        <p:spPr>
          <a:xfrm>
            <a:off x="5330952" y="2688336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9" name="E1 · wear or defect, run 1 Qwen"/>
          <p:cNvSpPr txBox="1"/>
          <p:nvPr/>
        </p:nvSpPr>
        <p:spPr>
          <a:xfrm>
            <a:off x="5330952" y="268833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3145536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1" name="E1 · wear or defect, run 2"/>
          <p:cNvSpPr txBox="1"/>
          <p:nvPr/>
        </p:nvSpPr>
        <p:spPr>
          <a:xfrm>
            <a:off x="914400" y="32004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 · wear or defect, run 2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ESCALATE</a:t>
            </a:r>
            <a:endParaRPr lang="en-US" sz="1100" dirty="0"/>
          </a:p>
        </p:txBody>
      </p:sp>
      <p:sp>
        <p:nvSpPr>
          <p:cNvPr id="32" name="E1 · wear or defect, run 2 ChatGPT cell"/>
          <p:cNvSpPr/>
          <p:nvPr/>
        </p:nvSpPr>
        <p:spPr>
          <a:xfrm>
            <a:off x="2862072" y="3200400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3" name="E1 · wear or defect, run 2 ChatGPT"/>
          <p:cNvSpPr txBox="1"/>
          <p:nvPr/>
        </p:nvSpPr>
        <p:spPr>
          <a:xfrm>
            <a:off x="2862072" y="320040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97%</a:t>
            </a:r>
            <a:endParaRPr lang="en-US" sz="900" dirty="0"/>
          </a:p>
        </p:txBody>
      </p:sp>
      <p:sp>
        <p:nvSpPr>
          <p:cNvPr id="34" name="E1 · wear or defect, run 2 Claude cell"/>
          <p:cNvSpPr/>
          <p:nvPr/>
        </p:nvSpPr>
        <p:spPr>
          <a:xfrm>
            <a:off x="3685032" y="3200400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5" name="E1 · wear or defect, run 2 Claude"/>
          <p:cNvSpPr txBox="1"/>
          <p:nvPr/>
        </p:nvSpPr>
        <p:spPr>
          <a:xfrm>
            <a:off x="3685032" y="320040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80%</a:t>
            </a:r>
            <a:endParaRPr lang="en-US" sz="900" dirty="0"/>
          </a:p>
        </p:txBody>
      </p:sp>
      <p:sp>
        <p:nvSpPr>
          <p:cNvPr id="36" name="E1 · wear or defect, run 2 Gemini cell"/>
          <p:cNvSpPr/>
          <p:nvPr/>
        </p:nvSpPr>
        <p:spPr>
          <a:xfrm>
            <a:off x="4507992" y="3200400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7" name="E1 · wear or defect, run 2 Gemini"/>
          <p:cNvSpPr txBox="1"/>
          <p:nvPr/>
        </p:nvSpPr>
        <p:spPr>
          <a:xfrm>
            <a:off x="4507992" y="320040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900" dirty="0"/>
          </a:p>
        </p:txBody>
      </p:sp>
      <p:sp>
        <p:nvSpPr>
          <p:cNvPr id="38" name="E1 · wear or defect, run 2 Qwen cell"/>
          <p:cNvSpPr/>
          <p:nvPr/>
        </p:nvSpPr>
        <p:spPr>
          <a:xfrm>
            <a:off x="5330952" y="3200400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39" name="E1 · wear or defect, run 2 Qwen"/>
          <p:cNvSpPr txBox="1"/>
          <p:nvPr/>
        </p:nvSpPr>
        <p:spPr>
          <a:xfrm>
            <a:off x="5330952" y="320040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" y="3657600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1" name="F1 · AI-generated photo"/>
          <p:cNvSpPr txBox="1"/>
          <p:nvPr/>
        </p:nvSpPr>
        <p:spPr>
          <a:xfrm>
            <a:off x="914400" y="37124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 · AI-generated photo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ESCALATE + flag it</a:t>
            </a:r>
            <a:endParaRPr lang="en-US" sz="1100" dirty="0"/>
          </a:p>
        </p:txBody>
      </p:sp>
      <p:sp>
        <p:nvSpPr>
          <p:cNvPr id="42" name="F1 · AI-generated photo ChatGPT cell"/>
          <p:cNvSpPr/>
          <p:nvPr/>
        </p:nvSpPr>
        <p:spPr>
          <a:xfrm>
            <a:off x="2862072" y="3712464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3" name="F1 · AI-generated photo ChatGPT"/>
          <p:cNvSpPr txBox="1"/>
          <p:nvPr/>
        </p:nvSpPr>
        <p:spPr>
          <a:xfrm>
            <a:off x="2862072" y="371246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900" dirty="0"/>
          </a:p>
        </p:txBody>
      </p:sp>
      <p:sp>
        <p:nvSpPr>
          <p:cNvPr id="44" name="F1 · AI-generated photo Claude cell"/>
          <p:cNvSpPr/>
          <p:nvPr/>
        </p:nvSpPr>
        <p:spPr>
          <a:xfrm>
            <a:off x="3685032" y="3712464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5" name="F1 · AI-generated photo Claude"/>
          <p:cNvSpPr txBox="1"/>
          <p:nvPr/>
        </p:nvSpPr>
        <p:spPr>
          <a:xfrm>
            <a:off x="3685032" y="371246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</a:t>
            </a:r>
            <a:endParaRPr lang="en-US" sz="900" dirty="0"/>
          </a:p>
        </p:txBody>
      </p:sp>
      <p:sp>
        <p:nvSpPr>
          <p:cNvPr id="46" name="F1 · AI-generated photo Gemini cell"/>
          <p:cNvSpPr/>
          <p:nvPr/>
        </p:nvSpPr>
        <p:spPr>
          <a:xfrm>
            <a:off x="4507992" y="3712464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47" name="F1 · AI-generated photo Gemini"/>
          <p:cNvSpPr txBox="1"/>
          <p:nvPr/>
        </p:nvSpPr>
        <p:spPr>
          <a:xfrm>
            <a:off x="4507992" y="371246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48" name="F1 · AI-generated photo Qwen cell"/>
          <p:cNvSpPr/>
          <p:nvPr/>
        </p:nvSpPr>
        <p:spPr>
          <a:xfrm>
            <a:off x="5330952" y="3712464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9" name="F1 · AI-generated photo Qwen"/>
          <p:cNvSpPr txBox="1"/>
          <p:nvPr/>
        </p:nvSpPr>
        <p:spPr>
          <a:xfrm>
            <a:off x="5330952" y="371246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85%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4400" y="4169664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F2 · damage, no photo"/>
          <p:cNvSpPr txBox="1"/>
          <p:nvPr/>
        </p:nvSpPr>
        <p:spPr>
          <a:xfrm>
            <a:off x="914400" y="4224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F2 · damage, no photo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ask for a photo</a:t>
            </a:r>
            <a:endParaRPr lang="en-US" sz="1100" dirty="0"/>
          </a:p>
        </p:txBody>
      </p:sp>
      <p:sp>
        <p:nvSpPr>
          <p:cNvPr id="52" name="F2 · damage, no photo ChatGPT cell"/>
          <p:cNvSpPr/>
          <p:nvPr/>
        </p:nvSpPr>
        <p:spPr>
          <a:xfrm>
            <a:off x="2862072" y="4224528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53" name="F2 · damage, no photo ChatGPT"/>
          <p:cNvSpPr txBox="1"/>
          <p:nvPr/>
        </p:nvSpPr>
        <p:spPr>
          <a:xfrm>
            <a:off x="2862072" y="4224528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96%</a:t>
            </a:r>
            <a:endParaRPr lang="en-US" sz="900" dirty="0"/>
          </a:p>
        </p:txBody>
      </p:sp>
      <p:sp>
        <p:nvSpPr>
          <p:cNvPr id="54" name="F2 · damage, no photo Claude cell"/>
          <p:cNvSpPr/>
          <p:nvPr/>
        </p:nvSpPr>
        <p:spPr>
          <a:xfrm>
            <a:off x="3685032" y="4224528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55" name="F2 · damage, no photo Claude"/>
          <p:cNvSpPr txBox="1"/>
          <p:nvPr/>
        </p:nvSpPr>
        <p:spPr>
          <a:xfrm>
            <a:off x="3685032" y="4224528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900" dirty="0"/>
          </a:p>
        </p:txBody>
      </p:sp>
      <p:sp>
        <p:nvSpPr>
          <p:cNvPr id="56" name="F2 · damage, no photo Gemini cell"/>
          <p:cNvSpPr/>
          <p:nvPr/>
        </p:nvSpPr>
        <p:spPr>
          <a:xfrm>
            <a:off x="4507992" y="4224528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57" name="F2 · damage, no photo Gemini"/>
          <p:cNvSpPr txBox="1"/>
          <p:nvPr/>
        </p:nvSpPr>
        <p:spPr>
          <a:xfrm>
            <a:off x="4507992" y="4224528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✗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58" name="F2 · damage, no photo Qwen cell"/>
          <p:cNvSpPr/>
          <p:nvPr/>
        </p:nvSpPr>
        <p:spPr>
          <a:xfrm>
            <a:off x="5330952" y="4224528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59" name="F2 · damage, no photo Qwen"/>
          <p:cNvSpPr txBox="1"/>
          <p:nvPr/>
        </p:nvSpPr>
        <p:spPr>
          <a:xfrm>
            <a:off x="5330952" y="4224528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ESCALATE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0" y="4681728"/>
            <a:ext cx="5074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1" name="F3 · who can deny?"/>
          <p:cNvSpPr txBox="1"/>
          <p:nvPr/>
        </p:nvSpPr>
        <p:spPr>
          <a:xfrm>
            <a:off x="914400" y="4736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 · who can deny?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 DENY + a person confirms</a:t>
            </a:r>
            <a:endParaRPr lang="en-US" sz="1100" dirty="0"/>
          </a:p>
        </p:txBody>
      </p:sp>
      <p:sp>
        <p:nvSpPr>
          <p:cNvPr id="62" name="F3 · who can deny? ChatGPT cell"/>
          <p:cNvSpPr/>
          <p:nvPr/>
        </p:nvSpPr>
        <p:spPr>
          <a:xfrm>
            <a:off x="2862072" y="473659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3" name="F3 · who can deny? ChatGPT"/>
          <p:cNvSpPr txBox="1"/>
          <p:nvPr/>
        </p:nvSpPr>
        <p:spPr>
          <a:xfrm>
            <a:off x="2862072" y="473659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64" name="F3 · who can deny? Claude cell"/>
          <p:cNvSpPr/>
          <p:nvPr/>
        </p:nvSpPr>
        <p:spPr>
          <a:xfrm>
            <a:off x="3685032" y="473659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5" name="F3 · who can deny? Claude"/>
          <p:cNvSpPr txBox="1"/>
          <p:nvPr/>
        </p:nvSpPr>
        <p:spPr>
          <a:xfrm>
            <a:off x="3685032" y="473659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900" dirty="0"/>
          </a:p>
        </p:txBody>
      </p:sp>
      <p:sp>
        <p:nvSpPr>
          <p:cNvPr id="66" name="F3 · who can deny? Gemini cell"/>
          <p:cNvSpPr/>
          <p:nvPr/>
        </p:nvSpPr>
        <p:spPr>
          <a:xfrm>
            <a:off x="4507992" y="473659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7" name="F3 · who can deny? Gemini"/>
          <p:cNvSpPr txBox="1"/>
          <p:nvPr/>
        </p:nvSpPr>
        <p:spPr>
          <a:xfrm>
            <a:off x="4507992" y="473659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68" name="F3 · who can deny? Qwen cell"/>
          <p:cNvSpPr/>
          <p:nvPr/>
        </p:nvSpPr>
        <p:spPr>
          <a:xfrm>
            <a:off x="5330952" y="4736592"/>
            <a:ext cx="768096" cy="420624"/>
          </a:xfrm>
          <a:prstGeom prst="roundRect">
            <a:avLst>
              <a:gd name="adj" fmla="val 1739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9" name="F3 · who can deny? Qwen"/>
          <p:cNvSpPr txBox="1"/>
          <p:nvPr/>
        </p:nvSpPr>
        <p:spPr>
          <a:xfrm>
            <a:off x="5330952" y="473659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 DENY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4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900" dirty="0"/>
          </a:p>
        </p:txBody>
      </p:sp>
      <p:sp>
        <p:nvSpPr>
          <p:cNvPr id="70" name="Legend"/>
          <p:cNvSpPr txBox="1"/>
          <p:nvPr/>
        </p:nvSpPr>
        <p:spPr>
          <a:xfrm>
            <a:off x="914400" y="523036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correct · ! right call, wrong reason · ✗ wrong call · % = the tool's own confidence</a:t>
            </a:r>
            <a:endParaRPr lang="en-US" sz="950" dirty="0"/>
          </a:p>
        </p:txBody>
      </p:sp>
      <p:sp>
        <p:nvSpPr>
          <p:cNvPr id="71" name="Latency and surprise"/>
          <p:cNvSpPr txBox="1"/>
          <p:nvPr/>
        </p:nvSpPr>
        <p:spPr>
          <a:xfrm>
            <a:off x="914400" y="555040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~0.5 s (ChatGPT), 1.2–1.8 s (Qwen). Speed was never the problem.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Surprise: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open-weight Qwen escalated the ambiguous case.</a:t>
            </a:r>
            <a:endParaRPr lang="en-US" sz="1100" dirty="0"/>
          </a:p>
        </p:txBody>
      </p:sp>
      <p:sp>
        <p:nvSpPr>
          <p:cNvPr id="72" name="Gemini receipt card"/>
          <p:cNvSpPr/>
          <p:nvPr/>
        </p:nvSpPr>
        <p:spPr>
          <a:xfrm>
            <a:off x="6355080" y="1691640"/>
            <a:ext cx="5123383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Gemini receipt title"/>
          <p:cNvSpPr txBox="1"/>
          <p:nvPr/>
        </p:nvSpPr>
        <p:spPr>
          <a:xfrm>
            <a:off x="6583680" y="1801368"/>
            <a:ext cx="4666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 · Gemini approved the fake photo it generated — at 100%</a:t>
            </a:r>
            <a:endParaRPr lang="en-US" sz="1200" dirty="0"/>
          </a:p>
        </p:txBody>
      </p:sp>
      <p:pic>
        <p:nvPicPr>
          <p:cNvPr id="74" name="Fake photo" descr="The AI-generated test photo: a white leather sneaker with a large tear in the u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40280"/>
            <a:ext cx="1399032" cy="768096"/>
          </a:xfrm>
          <a:prstGeom prst="rect">
            <a:avLst/>
          </a:prstGeom>
        </p:spPr>
      </p:pic>
      <p:pic>
        <p:nvPicPr>
          <p:cNvPr id="75" name="Gemini answer" descr="Gemini's answer: Decision APPROVE, Confidence 100%, reasoning that the required photos were attached to support the damage cla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2176272"/>
            <a:ext cx="3136392" cy="941832"/>
          </a:xfrm>
          <a:prstGeom prst="rect">
            <a:avLst/>
          </a:prstGeom>
        </p:spPr>
      </p:pic>
      <p:sp>
        <p:nvSpPr>
          <p:cNvPr id="76" name="Gemini caption"/>
          <p:cNvSpPr txBox="1"/>
          <p:nvPr/>
        </p:nvSpPr>
        <p:spPr>
          <a:xfrm>
            <a:off x="6583680" y="3246120"/>
            <a:ext cx="466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never described the image: "Required photos were attached to support the damage claim."</a:t>
            </a:r>
            <a:endParaRPr lang="en-US" sz="1050" dirty="0"/>
          </a:p>
        </p:txBody>
      </p:sp>
      <p:sp>
        <p:nvSpPr>
          <p:cNvPr id="77" name="ChatGPT receipt card"/>
          <p:cNvSpPr/>
          <p:nvPr/>
        </p:nvSpPr>
        <p:spPr>
          <a:xfrm>
            <a:off x="6355080" y="4005072"/>
            <a:ext cx="5123383" cy="2212848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ChatGPT receipt title"/>
          <p:cNvSpPr txBox="1"/>
          <p:nvPr/>
        </p:nvSpPr>
        <p:spPr>
          <a:xfrm>
            <a:off x="6583680" y="4114800"/>
            <a:ext cx="4666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 re-run · ChatGPT's label contradicts its own reasoning</a:t>
            </a:r>
            <a:endParaRPr lang="en-US" sz="1200" dirty="0"/>
          </a:p>
        </p:txBody>
      </p:sp>
      <p:pic>
        <p:nvPicPr>
          <p:cNvPr id="79" name="ChatGPT answer" descr="ChatGPT's answer: Decision APPROVE, Confidence 95%, then: the decision should actually be DENY, so no manager approval is need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80560"/>
            <a:ext cx="3502152" cy="1280160"/>
          </a:xfrm>
          <a:prstGeom prst="rect">
            <a:avLst/>
          </a:prstGeom>
        </p:spPr>
      </p:pic>
      <p:sp>
        <p:nvSpPr>
          <p:cNvPr id="80" name="ChatGPT caption"/>
          <p:cNvSpPr txBox="1"/>
          <p:nvPr/>
        </p:nvSpPr>
        <p:spPr>
          <a:xfrm>
            <a:off x="6583680" y="5788152"/>
            <a:ext cx="4666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"APPROVE · 95%" — then "should actually be DENY… no manager approval is needed." The first run said DENY at 100%.</a:t>
            </a:r>
            <a:endParaRPr lang="en-US" sz="1050" dirty="0"/>
          </a:p>
        </p:txBody>
      </p:sp>
      <p:sp>
        <p:nvSpPr>
          <p:cNvPr id="81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Receipts: validation/transcripts/ (24 scored runs) and transcripts/screenshots/ · 0 of 4 tools said a person must confirm a denial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Gap analysis · speed-dating interviews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interviews, one message: a person owns the "no"</a:t>
            </a:r>
            <a:endParaRPr lang="en-US" sz="3200" dirty="0"/>
          </a:p>
        </p:txBody>
      </p:sp>
      <p:sp>
        <p:nvSpPr>
          <p:cNvPr id="4" name="Aditya card"/>
          <p:cNvSpPr/>
          <p:nvPr/>
        </p:nvSpPr>
        <p:spPr>
          <a:xfrm>
            <a:off x="713232" y="1691640"/>
            <a:ext cx="259529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Aditya findings"/>
          <p:cNvSpPr txBox="1"/>
          <p:nvPr/>
        </p:nvSpPr>
        <p:spPr>
          <a:xfrm>
            <a:off x="896112" y="1828800"/>
            <a:ext cx="222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Aditya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+ retail associate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"Claiming 100% makes me wonder whether the AI understands its own limitations."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Associate: escalating every doubt "wouldn't actually save time."</a:t>
            </a:r>
            <a:endParaRPr lang="en-US" sz="1300" dirty="0"/>
          </a:p>
        </p:txBody>
      </p:sp>
      <p:sp>
        <p:nvSpPr>
          <p:cNvPr id="6" name="Sharayu card"/>
          <p:cNvSpPr/>
          <p:nvPr/>
        </p:nvSpPr>
        <p:spPr>
          <a:xfrm>
            <a:off x="3436544" y="1691640"/>
            <a:ext cx="259529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rayu findings"/>
          <p:cNvSpPr txBox="1"/>
          <p:nvPr/>
        </p:nvSpPr>
        <p:spPr>
          <a:xfrm>
            <a:off x="3619424" y="1828800"/>
            <a:ext cx="222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Sharayu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+ support specialist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"AI can recommend, but humans decide when it's a 'no.'"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Specialist: fast AI turns reviewers into "validators" who may rubber-stamp.</a:t>
            </a:r>
            <a:endParaRPr lang="en-US" sz="1300" dirty="0"/>
          </a:p>
        </p:txBody>
      </p:sp>
      <p:sp>
        <p:nvSpPr>
          <p:cNvPr id="8" name="Trupti card"/>
          <p:cNvSpPr/>
          <p:nvPr/>
        </p:nvSpPr>
        <p:spPr>
          <a:xfrm>
            <a:off x="6159856" y="1691640"/>
            <a:ext cx="259529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rupti findings"/>
          <p:cNvSpPr txBox="1"/>
          <p:nvPr/>
        </p:nvSpPr>
        <p:spPr>
          <a:xfrm>
            <a:off x="6342736" y="1828800"/>
            <a:ext cx="222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Trupti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+ warehouse returns associate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"If my name is on the denial, I need to have actually looked."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Customer: "Tell me what's missing, not just that I'm wrong."</a:t>
            </a:r>
            <a:endParaRPr lang="en-US" sz="1300" dirty="0"/>
          </a:p>
        </p:txBody>
      </p:sp>
      <p:sp>
        <p:nvSpPr>
          <p:cNvPr id="10" name="Avni card"/>
          <p:cNvSpPr/>
          <p:nvPr/>
        </p:nvSpPr>
        <p:spPr>
          <a:xfrm>
            <a:off x="8883167" y="1691640"/>
            <a:ext cx="2595296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Avni findings"/>
          <p:cNvSpPr txBox="1"/>
          <p:nvPr/>
        </p:nvSpPr>
        <p:spPr>
          <a:xfrm>
            <a:off x="9066047" y="1828800"/>
            <a:ext cx="222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Avni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+ bookstore associate (short-form)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"Percentages can make people lazy and trick them into hitting 'approve' without actually looking."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Customer: identical cases must get identical outcomes.</a:t>
            </a:r>
            <a:endParaRPr lang="en-US" sz="1300" dirty="0"/>
          </a:p>
        </p:txBody>
      </p:sp>
      <p:sp>
        <p:nvSpPr>
          <p:cNvPr id="12" name="Count 1"/>
          <p:cNvSpPr txBox="1"/>
          <p:nvPr/>
        </p:nvSpPr>
        <p:spPr>
          <a:xfrm>
            <a:off x="758952" y="4005072"/>
            <a:ext cx="250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of 8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a person must make denials</a:t>
            </a:r>
            <a:endParaRPr lang="en-US" sz="3000" dirty="0"/>
          </a:p>
        </p:txBody>
      </p:sp>
      <p:sp>
        <p:nvSpPr>
          <p:cNvPr id="13" name="Count 2"/>
          <p:cNvSpPr txBox="1"/>
          <p:nvPr/>
        </p:nvSpPr>
        <p:spPr>
          <a:xfrm>
            <a:off x="3482264" y="4005072"/>
            <a:ext cx="250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of 7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asked distrust a bare confidence score</a:t>
            </a:r>
            <a:endParaRPr lang="en-US" sz="3000" dirty="0"/>
          </a:p>
        </p:txBody>
      </p:sp>
      <p:sp>
        <p:nvSpPr>
          <p:cNvPr id="14" name="Count 3"/>
          <p:cNvSpPr txBox="1"/>
          <p:nvPr/>
        </p:nvSpPr>
        <p:spPr>
          <a:xfrm>
            <a:off x="6205576" y="4005072"/>
            <a:ext cx="250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of 4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reviewers would not send the AI-endorsed denial</a:t>
            </a:r>
            <a:endParaRPr lang="en-US" sz="3000" dirty="0"/>
          </a:p>
        </p:txBody>
      </p:sp>
      <p:sp>
        <p:nvSpPr>
          <p:cNvPr id="15" name="Count 4"/>
          <p:cNvSpPr txBox="1"/>
          <p:nvPr/>
        </p:nvSpPr>
        <p:spPr>
          <a:xfrm>
            <a:off x="8928887" y="4005072"/>
            <a:ext cx="250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of 4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customers had a return outcome that felt unexplained</a:t>
            </a:r>
            <a:endParaRPr lang="en-US" sz="3000" dirty="0"/>
          </a:p>
        </p:txBody>
      </p:sp>
      <p:sp>
        <p:nvSpPr>
          <p:cNvPr id="16" name="Trust calibration card"/>
          <p:cNvSpPr/>
          <p:nvPr/>
        </p:nvSpPr>
        <p:spPr>
          <a:xfrm>
            <a:off x="713232" y="5074920"/>
            <a:ext cx="3503066" cy="9144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7" name="Trust calibration text"/>
          <p:cNvSpPr txBox="1"/>
          <p:nvPr/>
        </p:nvSpPr>
        <p:spPr>
          <a:xfrm>
            <a:off x="914400" y="5193792"/>
            <a:ext cx="3100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B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calibration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raw score breeds overtrust — or gets ignored.</a:t>
            </a:r>
            <a:endParaRPr lang="en-US" sz="1100" dirty="0"/>
          </a:p>
        </p:txBody>
      </p:sp>
      <p:sp>
        <p:nvSpPr>
          <p:cNvPr id="18" name="Attention card"/>
          <p:cNvSpPr/>
          <p:nvPr/>
        </p:nvSpPr>
        <p:spPr>
          <a:xfrm>
            <a:off x="4344314" y="5074920"/>
            <a:ext cx="3503066" cy="9144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9" name="Attention text"/>
          <p:cNvSpPr txBox="1"/>
          <p:nvPr/>
        </p:nvSpPr>
        <p:spPr>
          <a:xfrm>
            <a:off x="4545482" y="5193792"/>
            <a:ext cx="3100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B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misses fake evidence; reviewers spot "too perfect."</a:t>
            </a:r>
            <a:endParaRPr lang="en-US" sz="1100" dirty="0"/>
          </a:p>
        </p:txBody>
      </p:sp>
      <p:sp>
        <p:nvSpPr>
          <p:cNvPr id="20" name="Meta-coordination card"/>
          <p:cNvSpPr/>
          <p:nvPr/>
        </p:nvSpPr>
        <p:spPr>
          <a:xfrm>
            <a:off x="7975397" y="5074920"/>
            <a:ext cx="3503066" cy="914400"/>
          </a:xfrm>
          <a:prstGeom prst="roundRect">
            <a:avLst>
              <a:gd name="adj" fmla="val 16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21" name="Meta-coordination text"/>
          <p:cNvSpPr txBox="1"/>
          <p:nvPr/>
        </p:nvSpPr>
        <p:spPr>
          <a:xfrm>
            <a:off x="8176565" y="5193792"/>
            <a:ext cx="3100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B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Meta-coordination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claims decision rights it should not hold.</a:t>
            </a:r>
            <a:endParaRPr lang="en-US" sz="1100" dirty="0"/>
          </a:p>
        </p:txBody>
      </p:sp>
      <p:sp>
        <p:nvSpPr>
          <p:cNvPr id="22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interviews: 4 customers, 4 retail, support, or returns staff, 6–8 Oct 2026 · Gap matrix: validation/GAP_ANALYSIS.md · Theory: Gonzalez et al. (2026)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Refined concept &amp; UI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changed — and the evidence behind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2212848" y="1828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Customer submits step"/>
          <p:cNvSpPr/>
          <p:nvPr/>
        </p:nvSpPr>
        <p:spPr>
          <a:xfrm>
            <a:off x="713232" y="1664208"/>
            <a:ext cx="1481328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Customer submits"/>
          <p:cNvSpPr txBox="1"/>
          <p:nvPr/>
        </p:nvSpPr>
        <p:spPr>
          <a:xfrm>
            <a:off x="822960" y="171907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submits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reason, note, photo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828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Rules check first step"/>
          <p:cNvSpPr/>
          <p:nvPr/>
        </p:nvSpPr>
        <p:spPr>
          <a:xfrm>
            <a:off x="2523744" y="1664208"/>
            <a:ext cx="1481328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9" name="Rules check first"/>
          <p:cNvSpPr txBox="1"/>
          <p:nvPr/>
        </p:nvSpPr>
        <p:spPr>
          <a:xfrm>
            <a:off x="2633472" y="171907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 check first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missing photo → ask customer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33872" y="1828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AI checks step"/>
          <p:cNvSpPr/>
          <p:nvPr/>
        </p:nvSpPr>
        <p:spPr>
          <a:xfrm>
            <a:off x="4334256" y="1664208"/>
            <a:ext cx="1481328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2" name="AI checks"/>
          <p:cNvSpPr txBox="1"/>
          <p:nvPr/>
        </p:nvSpPr>
        <p:spPr>
          <a:xfrm>
            <a:off x="4443984" y="171907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checks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 · photo + authenticity · history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44384" y="1828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Governance gate step"/>
          <p:cNvSpPr/>
          <p:nvPr/>
        </p:nvSpPr>
        <p:spPr>
          <a:xfrm>
            <a:off x="6144768" y="1664208"/>
            <a:ext cx="1481328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15" name="Governance gate"/>
          <p:cNvSpPr txBox="1"/>
          <p:nvPr/>
        </p:nvSpPr>
        <p:spPr>
          <a:xfrm>
            <a:off x="6254496" y="171907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 gate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escalates for a named reason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454896" y="18288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Auto-approve branch"/>
          <p:cNvSpPr/>
          <p:nvPr/>
        </p:nvSpPr>
        <p:spPr>
          <a:xfrm>
            <a:off x="7955280" y="1664208"/>
            <a:ext cx="1481328" cy="329184"/>
          </a:xfrm>
          <a:prstGeom prst="roundRect">
            <a:avLst>
              <a:gd name="adj" fmla="val 27778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16642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 → auto-approve</a:t>
            </a:r>
            <a:endParaRPr lang="en-US" sz="1000" dirty="0"/>
          </a:p>
        </p:txBody>
      </p:sp>
      <p:sp>
        <p:nvSpPr>
          <p:cNvPr id="19" name="Reviewer branch"/>
          <p:cNvSpPr/>
          <p:nvPr/>
        </p:nvSpPr>
        <p:spPr>
          <a:xfrm>
            <a:off x="7955280" y="2048256"/>
            <a:ext cx="1481328" cy="329184"/>
          </a:xfrm>
          <a:prstGeom prst="roundRect">
            <a:avLst>
              <a:gd name="adj" fmla="val 27778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048256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Else → a person decides</a:t>
            </a:r>
            <a:endParaRPr lang="en-US" sz="1000" dirty="0"/>
          </a:p>
        </p:txBody>
      </p:sp>
      <p:sp>
        <p:nvSpPr>
          <p:cNvPr id="21" name="Outcome step"/>
          <p:cNvSpPr/>
          <p:nvPr/>
        </p:nvSpPr>
        <p:spPr>
          <a:xfrm>
            <a:off x="9765792" y="1664208"/>
            <a:ext cx="1481328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0071E3"/>
            </a:solidFill>
            <a:prstDash val="solid"/>
          </a:ln>
        </p:spPr>
      </p:sp>
      <p:sp>
        <p:nvSpPr>
          <p:cNvPr id="22" name="Outcome"/>
          <p:cNvSpPr txBox="1"/>
          <p:nvPr/>
        </p:nvSpPr>
        <p:spPr>
          <a:xfrm>
            <a:off x="9875520" y="171907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rule, evidence, who decided · request a review</a:t>
            </a:r>
            <a:endParaRPr lang="en-US" sz="1100" dirty="0"/>
          </a:p>
        </p:txBody>
      </p:sp>
      <p:sp>
        <p:nvSpPr>
          <p:cNvPr id="23" name="Changes card"/>
          <p:cNvSpPr/>
          <p:nvPr/>
        </p:nvSpPr>
        <p:spPr>
          <a:xfrm>
            <a:off x="713232" y="2606040"/>
            <a:ext cx="681228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27249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LEVER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176272" y="27249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 → V1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27249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RECEIPT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017520"/>
            <a:ext cx="64008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9" name="Lever 1 pill"/>
          <p:cNvSpPr/>
          <p:nvPr/>
        </p:nvSpPr>
        <p:spPr>
          <a:xfrm>
            <a:off x="914400" y="316382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0" name="Lever 1"/>
          <p:cNvSpPr txBox="1"/>
          <p:nvPr/>
        </p:nvSpPr>
        <p:spPr>
          <a:xfrm>
            <a:off x="91440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rights</a:t>
            </a:r>
            <a:endParaRPr lang="en-US" sz="950" dirty="0"/>
          </a:p>
        </p:txBody>
      </p:sp>
      <p:sp>
        <p:nvSpPr>
          <p:cNvPr id="31" name="Change 1"/>
          <p:cNvSpPr txBox="1"/>
          <p:nvPr/>
        </p:nvSpPr>
        <p:spPr>
          <a:xfrm>
            <a:off x="2176272" y="307238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Denials routed to a reviewer</a:t>
            </a:r>
            <a:endParaRPr lang="en-US" sz="9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Confirmed: the gate can never deny</a:t>
            </a:r>
            <a:endParaRPr lang="en-US" sz="950" dirty="0"/>
          </a:p>
        </p:txBody>
      </p:sp>
      <p:sp>
        <p:nvSpPr>
          <p:cNvPr id="32" name="Receipt 1"/>
          <p:cNvSpPr txBox="1"/>
          <p:nvPr/>
        </p:nvSpPr>
        <p:spPr>
          <a:xfrm>
            <a:off x="4507992" y="30723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F3: 0 of 4 required sign-off · 7 of 8 interviewees</a:t>
            </a:r>
            <a:endParaRPr lang="en-US" sz="950" dirty="0"/>
          </a:p>
        </p:txBody>
      </p:sp>
      <p:sp>
        <p:nvSpPr>
          <p:cNvPr id="33" name="Theory 1"/>
          <p:cNvSpPr txBox="1"/>
          <p:nvPr/>
        </p:nvSpPr>
        <p:spPr>
          <a:xfrm>
            <a:off x="6153912" y="3072384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partitioning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3639312"/>
            <a:ext cx="64008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5" name="Lever 2 pill"/>
          <p:cNvSpPr/>
          <p:nvPr/>
        </p:nvSpPr>
        <p:spPr>
          <a:xfrm>
            <a:off x="914400" y="37856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36" name="Lever 2"/>
          <p:cNvSpPr txBox="1"/>
          <p:nvPr/>
        </p:nvSpPr>
        <p:spPr>
          <a:xfrm>
            <a:off x="914400" y="3785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cues</a:t>
            </a:r>
            <a:endParaRPr lang="en-US" sz="950" dirty="0"/>
          </a:p>
        </p:txBody>
      </p:sp>
      <p:sp>
        <p:nvSpPr>
          <p:cNvPr id="37" name="Change 2"/>
          <p:cNvSpPr txBox="1"/>
          <p:nvPr/>
        </p:nvSpPr>
        <p:spPr>
          <a:xfrm>
            <a:off x="2176272" y="369417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confidence "62%"</a:t>
            </a:r>
            <a:endParaRPr lang="en-US" sz="9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strength + "Uncertain about"</a:t>
            </a:r>
            <a:endParaRPr lang="en-US" sz="950" dirty="0"/>
          </a:p>
        </p:txBody>
      </p:sp>
      <p:sp>
        <p:nvSpPr>
          <p:cNvPr id="38" name="Receipt 2"/>
          <p:cNvSpPr txBox="1"/>
          <p:nvPr/>
        </p:nvSpPr>
        <p:spPr>
          <a:xfrm>
            <a:off x="4507992" y="369417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95–100% on wrong answers · 7 of 7 distrust</a:t>
            </a:r>
            <a:endParaRPr lang="en-US" sz="950" dirty="0"/>
          </a:p>
        </p:txBody>
      </p:sp>
      <p:sp>
        <p:nvSpPr>
          <p:cNvPr id="39" name="Theory 2"/>
          <p:cNvSpPr txBox="1"/>
          <p:nvPr/>
        </p:nvSpPr>
        <p:spPr>
          <a:xfrm>
            <a:off x="6153912" y="369417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calibration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261104"/>
            <a:ext cx="64008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1" name="Lever 3 pill"/>
          <p:cNvSpPr/>
          <p:nvPr/>
        </p:nvSpPr>
        <p:spPr>
          <a:xfrm>
            <a:off x="914400" y="440740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42" name="Lever 3"/>
          <p:cNvSpPr txBox="1"/>
          <p:nvPr/>
        </p:nvSpPr>
        <p:spPr>
          <a:xfrm>
            <a:off x="914400" y="4407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Trust cues</a:t>
            </a:r>
            <a:endParaRPr lang="en-US" sz="950" dirty="0"/>
          </a:p>
        </p:txBody>
      </p:sp>
      <p:sp>
        <p:nvSpPr>
          <p:cNvPr id="43" name="Change 3"/>
          <p:cNvSpPr txBox="1"/>
          <p:nvPr/>
        </p:nvSpPr>
        <p:spPr>
          <a:xfrm>
            <a:off x="2176272" y="43159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"signal only" photo line</a:t>
            </a:r>
            <a:endParaRPr lang="en-US" sz="9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Authenticity check; never auto-approved</a:t>
            </a:r>
            <a:endParaRPr lang="en-US" sz="950" dirty="0"/>
          </a:p>
        </p:txBody>
      </p:sp>
      <p:sp>
        <p:nvSpPr>
          <p:cNvPr id="44" name="Receipt 3"/>
          <p:cNvSpPr txBox="1"/>
          <p:nvPr/>
        </p:nvSpPr>
        <p:spPr>
          <a:xfrm>
            <a:off x="4507992" y="431596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F1: 0 of 4 caught the fake</a:t>
            </a:r>
            <a:endParaRPr lang="en-US" sz="950" dirty="0"/>
          </a:p>
        </p:txBody>
      </p:sp>
      <p:sp>
        <p:nvSpPr>
          <p:cNvPr id="45" name="Theory 3"/>
          <p:cNvSpPr txBox="1"/>
          <p:nvPr/>
        </p:nvSpPr>
        <p:spPr>
          <a:xfrm>
            <a:off x="6153912" y="4315968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Attention: unknown unknowns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4882896"/>
            <a:ext cx="64008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7" name="Lever 4 pill"/>
          <p:cNvSpPr/>
          <p:nvPr/>
        </p:nvSpPr>
        <p:spPr>
          <a:xfrm>
            <a:off x="914400" y="50292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48" name="Lever 4"/>
          <p:cNvSpPr txBox="1"/>
          <p:nvPr/>
        </p:nvSpPr>
        <p:spPr>
          <a:xfrm>
            <a:off x="914400" y="5029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Interrogation</a:t>
            </a:r>
            <a:endParaRPr lang="en-US" sz="950" dirty="0"/>
          </a:p>
        </p:txBody>
      </p:sp>
      <p:sp>
        <p:nvSpPr>
          <p:cNvPr id="49" name="Change 4"/>
          <p:cNvSpPr txBox="1"/>
          <p:nvPr/>
        </p:nvSpPr>
        <p:spPr>
          <a:xfrm>
            <a:off x="2176272" y="493776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Escalate on any low score</a:t>
            </a:r>
            <a:endParaRPr lang="en-US" sz="9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Named reasons; show where to look</a:t>
            </a:r>
            <a:endParaRPr lang="en-US" sz="950" dirty="0"/>
          </a:p>
        </p:txBody>
      </p:sp>
      <p:sp>
        <p:nvSpPr>
          <p:cNvPr id="50" name="Receipt 4"/>
          <p:cNvSpPr txBox="1"/>
          <p:nvPr/>
        </p:nvSpPr>
        <p:spPr>
          <a:xfrm>
            <a:off x="4507992" y="49377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Aditya P2 · Trupti P2 · Sharayu P2</a:t>
            </a:r>
            <a:endParaRPr lang="en-US" sz="950" dirty="0"/>
          </a:p>
        </p:txBody>
      </p:sp>
      <p:sp>
        <p:nvSpPr>
          <p:cNvPr id="51" name="Theory 4"/>
          <p:cNvSpPr txBox="1"/>
          <p:nvPr/>
        </p:nvSpPr>
        <p:spPr>
          <a:xfrm>
            <a:off x="6153912" y="493776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 &amp; interrogation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5504688"/>
            <a:ext cx="64008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3" name="Lever 5 pill"/>
          <p:cNvSpPr/>
          <p:nvPr/>
        </p:nvSpPr>
        <p:spPr>
          <a:xfrm>
            <a:off x="914400" y="56509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4" name="Lever 5"/>
          <p:cNvSpPr txBox="1"/>
          <p:nvPr/>
        </p:nvSpPr>
        <p:spPr>
          <a:xfrm>
            <a:off x="914400" y="56509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rights</a:t>
            </a:r>
            <a:endParaRPr lang="en-US" sz="950" dirty="0"/>
          </a:p>
        </p:txBody>
      </p:sp>
      <p:sp>
        <p:nvSpPr>
          <p:cNvPr id="55" name="Change 5"/>
          <p:cNvSpPr txBox="1"/>
          <p:nvPr/>
        </p:nvSpPr>
        <p:spPr>
          <a:xfrm>
            <a:off x="2176272" y="555955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way to challenge a denial</a:t>
            </a:r>
            <a:endParaRPr lang="en-US" sz="9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can request a review</a:t>
            </a:r>
            <a:endParaRPr lang="en-US" sz="950" dirty="0"/>
          </a:p>
        </p:txBody>
      </p:sp>
      <p:sp>
        <p:nvSpPr>
          <p:cNvPr id="56" name="Receipt 5"/>
          <p:cNvSpPr txBox="1"/>
          <p:nvPr/>
        </p:nvSpPr>
        <p:spPr>
          <a:xfrm>
            <a:off x="4507992" y="555955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of 4 customers had an unexplained outcome</a:t>
            </a:r>
            <a:endParaRPr lang="en-US" sz="950" dirty="0"/>
          </a:p>
        </p:txBody>
      </p:sp>
      <p:sp>
        <p:nvSpPr>
          <p:cNvPr id="57" name="Theory 5"/>
          <p:cNvSpPr txBox="1"/>
          <p:nvPr/>
        </p:nvSpPr>
        <p:spPr>
          <a:xfrm>
            <a:off x="6153912" y="55595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4A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Meta-coordination</a:t>
            </a:r>
            <a:endParaRPr lang="en-US" sz="950" dirty="0"/>
          </a:p>
        </p:txBody>
      </p:sp>
      <p:pic>
        <p:nvPicPr>
          <p:cNvPr id="58" name="Prototype screenshot" descr="Prototype reviewer case page for R-216: Unverified photo banner, Escalate with Evidence Weak, an Uncertain about list, and a separate photo authenticity check marked not verif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2606040"/>
            <a:ext cx="3767328" cy="2615184"/>
          </a:xfrm>
          <a:prstGeom prst="rect">
            <a:avLst/>
          </a:prstGeom>
        </p:spPr>
      </p:pic>
      <p:sp>
        <p:nvSpPr>
          <p:cNvPr id="59" name="Demo caption"/>
          <p:cNvSpPr txBox="1"/>
          <p:nvPr/>
        </p:nvSpPr>
        <p:spPr>
          <a:xfrm>
            <a:off x="7708392" y="5349240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R-216: unverified photo, evidence Weak. R-211: deny with confirmation → customer requests a review.</a:t>
            </a:r>
            <a:endParaRPr lang="en-US" sz="1050" dirty="0"/>
          </a:p>
        </p:txBody>
      </p:sp>
      <p:sp>
        <p:nvSpPr>
          <p:cNvPr id="60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spec v1: DESIGN_SPEC.md · Prototype: prototype/ · Principle: attention &amp; interrogation orchestration (Gonzalez et al., 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13232" y="512064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Risks &amp; path to Checkpoint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13232" y="804672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risks, their safeguards, and how we test complementarity</a:t>
            </a:r>
            <a:endParaRPr lang="en-US" sz="3200" dirty="0"/>
          </a:p>
        </p:txBody>
      </p:sp>
      <p:sp>
        <p:nvSpPr>
          <p:cNvPr id="4" name="Risks card"/>
          <p:cNvSpPr/>
          <p:nvPr/>
        </p:nvSpPr>
        <p:spPr>
          <a:xfrm>
            <a:off x="713232" y="1691640"/>
            <a:ext cx="603504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RISK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SAFEGUARD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55321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Risk 1"/>
          <p:cNvSpPr txBox="1"/>
          <p:nvPr/>
        </p:nvSpPr>
        <p:spPr>
          <a:xfrm>
            <a:off x="969264" y="2286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 photos get through</a:t>
            </a:r>
            <a:endParaRPr lang="en-US" sz="1300" dirty="0"/>
          </a:p>
        </p:txBody>
      </p:sp>
      <p:sp>
        <p:nvSpPr>
          <p:cNvPr id="9" name="Safeguard 1"/>
          <p:cNvSpPr txBox="1"/>
          <p:nvPr/>
        </p:nvSpPr>
        <p:spPr>
          <a:xfrm>
            <a:off x="3227832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Authenticity check; unverified photos are never auto-approved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2962656"/>
            <a:ext cx="55321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1" name="Risk 2"/>
          <p:cNvSpPr txBox="1"/>
          <p:nvPr/>
        </p:nvSpPr>
        <p:spPr>
          <a:xfrm>
            <a:off x="969264" y="30723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Reviewers flooded</a:t>
            </a:r>
            <a:endParaRPr lang="en-US" sz="1300" dirty="0"/>
          </a:p>
        </p:txBody>
      </p:sp>
      <p:sp>
        <p:nvSpPr>
          <p:cNvPr id="12" name="Safeguard 2"/>
          <p:cNvSpPr txBox="1"/>
          <p:nvPr/>
        </p:nvSpPr>
        <p:spPr>
          <a:xfrm>
            <a:off x="3227832" y="30723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Escalate only for named reasons; track the escalation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9264" y="3749040"/>
            <a:ext cx="55321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4" name="Risk 3"/>
          <p:cNvSpPr txBox="1"/>
          <p:nvPr/>
        </p:nvSpPr>
        <p:spPr>
          <a:xfrm>
            <a:off x="969264" y="38587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Rubber-stamping</a:t>
            </a:r>
            <a:endParaRPr lang="en-US" sz="1300" dirty="0"/>
          </a:p>
        </p:txBody>
      </p:sp>
      <p:sp>
        <p:nvSpPr>
          <p:cNvPr id="15" name="Safeguard 3"/>
          <p:cNvSpPr txBox="1"/>
          <p:nvPr/>
        </p:nvSpPr>
        <p:spPr>
          <a:xfrm>
            <a:off x="3227832" y="3858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where to look; one-click disagree; denials restate their basis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" y="4535424"/>
            <a:ext cx="55321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Risk 4"/>
          <p:cNvSpPr txBox="1"/>
          <p:nvPr/>
        </p:nvSpPr>
        <p:spPr>
          <a:xfrm>
            <a:off x="969264" y="46451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Bias in risk scoring</a:t>
            </a:r>
            <a:endParaRPr lang="en-US" sz="1300" dirty="0"/>
          </a:p>
        </p:txBody>
      </p:sp>
      <p:sp>
        <p:nvSpPr>
          <p:cNvPr id="18" name="Safeguard 4"/>
          <p:cNvSpPr txBox="1"/>
          <p:nvPr/>
        </p:nvSpPr>
        <p:spPr>
          <a:xfrm>
            <a:off x="3227832" y="46451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Names and gender cues removed; audit for disparate impact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" y="5321808"/>
            <a:ext cx="55321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Risk 5"/>
          <p:cNvSpPr txBox="1"/>
          <p:nvPr/>
        </p:nvSpPr>
        <p:spPr>
          <a:xfrm>
            <a:off x="969264" y="543153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photo isn't the item</a:t>
            </a:r>
            <a:endParaRPr lang="en-US" sz="1300" dirty="0"/>
          </a:p>
        </p:txBody>
      </p:sp>
      <p:sp>
        <p:nvSpPr>
          <p:cNvPr id="21" name="Safeguard 5"/>
          <p:cNvSpPr txBox="1"/>
          <p:nvPr/>
        </p:nvSpPr>
        <p:spPr>
          <a:xfrm>
            <a:off x="3227832" y="54315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Disputed damage can be confirmed by inspection on receipt</a:t>
            </a:r>
            <a:endParaRPr lang="en-US" sz="1200" dirty="0"/>
          </a:p>
        </p:txBody>
      </p:sp>
      <p:sp>
        <p:nvSpPr>
          <p:cNvPr id="22" name="Human alone condition"/>
          <p:cNvSpPr/>
          <p:nvPr/>
        </p:nvSpPr>
        <p:spPr>
          <a:xfrm>
            <a:off x="6931152" y="1691640"/>
            <a:ext cx="143042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Human alone label"/>
          <p:cNvSpPr txBox="1"/>
          <p:nvPr/>
        </p:nvSpPr>
        <p:spPr>
          <a:xfrm>
            <a:off x="7077456" y="1801368"/>
            <a:ext cx="1137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alone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reviewer, no AI help</a:t>
            </a:r>
            <a:endParaRPr lang="en-US" sz="1300" dirty="0"/>
          </a:p>
        </p:txBody>
      </p:sp>
      <p:sp>
        <p:nvSpPr>
          <p:cNvPr id="24" name="AI alone condition"/>
          <p:cNvSpPr/>
          <p:nvPr/>
        </p:nvSpPr>
        <p:spPr>
          <a:xfrm>
            <a:off x="8489594" y="1691640"/>
            <a:ext cx="1430426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AI alone label"/>
          <p:cNvSpPr txBox="1"/>
          <p:nvPr/>
        </p:nvSpPr>
        <p:spPr>
          <a:xfrm>
            <a:off x="8635898" y="1801368"/>
            <a:ext cx="1137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alone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LLM decides every case</a:t>
            </a:r>
            <a:endParaRPr lang="en-US" sz="1300" dirty="0"/>
          </a:p>
        </p:txBody>
      </p:sp>
      <p:sp>
        <p:nvSpPr>
          <p:cNvPr id="26" name="Hybrid condition"/>
          <p:cNvSpPr/>
          <p:nvPr/>
        </p:nvSpPr>
        <p:spPr>
          <a:xfrm>
            <a:off x="10048037" y="1691640"/>
            <a:ext cx="1430426" cy="868680"/>
          </a:xfrm>
          <a:prstGeom prst="roundRect">
            <a:avLst>
              <a:gd name="adj" fmla="val 16842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7" name="Hybrid label"/>
          <p:cNvSpPr txBox="1"/>
          <p:nvPr/>
        </p:nvSpPr>
        <p:spPr>
          <a:xfrm>
            <a:off x="10194341" y="1801368"/>
            <a:ext cx="1137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Hybrid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ReturnGuard: gate + reviewer</a:t>
            </a:r>
            <a:endParaRPr lang="en-US" sz="1300" dirty="0"/>
          </a:p>
        </p:txBody>
      </p:sp>
      <p:sp>
        <p:nvSpPr>
          <p:cNvPr id="28" name="Measures card"/>
          <p:cNvSpPr/>
          <p:nvPr/>
        </p:nvSpPr>
        <p:spPr>
          <a:xfrm>
            <a:off x="6931152" y="2724912"/>
            <a:ext cx="4547311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Measures heading"/>
          <p:cNvSpPr txBox="1"/>
          <p:nvPr/>
        </p:nvSpPr>
        <p:spPr>
          <a:xfrm>
            <a:off x="7132320" y="2834640"/>
            <a:ext cx="4144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ground-truth cases in all three. We measure:</a:t>
            </a:r>
            <a:endParaRPr lang="en-US" sz="1200" dirty="0"/>
          </a:p>
        </p:txBody>
      </p:sp>
      <p:sp>
        <p:nvSpPr>
          <p:cNvPr id="30" name="Measure 1 pill"/>
          <p:cNvSpPr/>
          <p:nvPr/>
        </p:nvSpPr>
        <p:spPr>
          <a:xfrm>
            <a:off x="7132320" y="324612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1" name="Measure 1"/>
          <p:cNvSpPr txBox="1"/>
          <p:nvPr/>
        </p:nvSpPr>
        <p:spPr>
          <a:xfrm>
            <a:off x="7132320" y="324612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2" name="Measure 2 pill"/>
          <p:cNvSpPr/>
          <p:nvPr/>
        </p:nvSpPr>
        <p:spPr>
          <a:xfrm>
            <a:off x="8544458" y="324612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3" name="Measure 2"/>
          <p:cNvSpPr txBox="1"/>
          <p:nvPr/>
        </p:nvSpPr>
        <p:spPr>
          <a:xfrm>
            <a:off x="8544458" y="324612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3A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Wrongful denials</a:t>
            </a:r>
            <a:endParaRPr lang="en-US" sz="1000" dirty="0"/>
          </a:p>
        </p:txBody>
      </p:sp>
      <p:sp>
        <p:nvSpPr>
          <p:cNvPr id="34" name="Measure 3 pill"/>
          <p:cNvSpPr/>
          <p:nvPr/>
        </p:nvSpPr>
        <p:spPr>
          <a:xfrm>
            <a:off x="9956597" y="324612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5" name="Measure 3"/>
          <p:cNvSpPr txBox="1"/>
          <p:nvPr/>
        </p:nvSpPr>
        <p:spPr>
          <a:xfrm>
            <a:off x="9956597" y="324612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Fake-photo catch rate</a:t>
            </a:r>
            <a:endParaRPr lang="en-US" sz="1000" dirty="0"/>
          </a:p>
        </p:txBody>
      </p:sp>
      <p:sp>
        <p:nvSpPr>
          <p:cNvPr id="36" name="Measure 4 pill"/>
          <p:cNvSpPr/>
          <p:nvPr/>
        </p:nvSpPr>
        <p:spPr>
          <a:xfrm>
            <a:off x="7132320" y="365760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7" name="Measure 4"/>
          <p:cNvSpPr txBox="1"/>
          <p:nvPr/>
        </p:nvSpPr>
        <p:spPr>
          <a:xfrm>
            <a:off x="7132320" y="365760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time per case</a:t>
            </a:r>
            <a:endParaRPr lang="en-US" sz="1000" dirty="0"/>
          </a:p>
        </p:txBody>
      </p:sp>
      <p:sp>
        <p:nvSpPr>
          <p:cNvPr id="38" name="Measure 5 pill"/>
          <p:cNvSpPr/>
          <p:nvPr/>
        </p:nvSpPr>
        <p:spPr>
          <a:xfrm>
            <a:off x="8544458" y="365760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9" name="Measure 5"/>
          <p:cNvSpPr txBox="1"/>
          <p:nvPr/>
        </p:nvSpPr>
        <p:spPr>
          <a:xfrm>
            <a:off x="8544458" y="365760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Escalation rate</a:t>
            </a:r>
            <a:endParaRPr lang="en-US" sz="1000" dirty="0"/>
          </a:p>
        </p:txBody>
      </p:sp>
      <p:sp>
        <p:nvSpPr>
          <p:cNvPr id="40" name="Measure 6 pill"/>
          <p:cNvSpPr/>
          <p:nvPr/>
        </p:nvSpPr>
        <p:spPr>
          <a:xfrm>
            <a:off x="9956597" y="3657600"/>
            <a:ext cx="1320698" cy="329184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Measure 6"/>
          <p:cNvSpPr txBox="1"/>
          <p:nvPr/>
        </p:nvSpPr>
        <p:spPr>
          <a:xfrm>
            <a:off x="9956597" y="3657600"/>
            <a:ext cx="13206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Overrides</a:t>
            </a:r>
            <a:endParaRPr lang="en-US" sz="1000" dirty="0"/>
          </a:p>
        </p:txBody>
      </p:sp>
      <p:sp>
        <p:nvSpPr>
          <p:cNvPr id="42" name="Success card"/>
          <p:cNvSpPr/>
          <p:nvPr/>
        </p:nvSpPr>
        <p:spPr>
          <a:xfrm>
            <a:off x="6931152" y="4370832"/>
            <a:ext cx="4547311" cy="1847088"/>
          </a:xfrm>
          <a:prstGeom prst="roundRect">
            <a:avLst>
              <a:gd name="adj" fmla="val 792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43" name="Success criterion"/>
          <p:cNvSpPr txBox="1"/>
          <p:nvPr/>
        </p:nvSpPr>
        <p:spPr>
          <a:xfrm>
            <a:off x="7187184" y="4526280"/>
            <a:ext cx="403524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00" kern="0" dirty="0">
                <a:solidFill>
                  <a:srgbClr val="6CB6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COMPLEMENTARITY HOLDS IF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hybrid is more accurate and makes fewer wrongful denials than both baselines — using less human time than human alone.</a:t>
            </a:r>
            <a:endParaRPr lang="en-US" sz="1000" dirty="0"/>
          </a:p>
        </p:txBody>
      </p:sp>
      <p:sp>
        <p:nvSpPr>
          <p:cNvPr id="44" name="Source"/>
          <p:cNvSpPr txBox="1"/>
          <p:nvPr/>
        </p:nvSpPr>
        <p:spPr>
          <a:xfrm>
            <a:off x="713232" y="6382512"/>
            <a:ext cx="10125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Plan: validation/THEORY_LENS.md §4 · Features: validation/OPPORTUNITY_FRAMING.md · Theory: Gonzalez et al. (2026), PNAS Nexus 5(3)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1263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6E73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urnGuard HIG">
  <a:themeElements>
    <a:clrScheme name="ReturnGuard HIG">
      <a:dk1>
        <a:srgbClr val="1D1D1F"/>
      </a:dk1>
      <a:lt1>
        <a:srgbClr val="FFFFFF"/>
      </a:lt1>
      <a:dk2>
        <a:srgbClr val="6E6E73"/>
      </a:dk2>
      <a:lt2>
        <a:srgbClr val="F5F5F7"/>
      </a:lt2>
      <a:accent1>
        <a:srgbClr val="0071E3"/>
      </a:accent1>
      <a:accent2>
        <a:srgbClr val="A33A00"/>
      </a:accent2>
      <a:accent3>
        <a:srgbClr val="1A7F37"/>
      </a:accent3>
      <a:accent4>
        <a:srgbClr val="6B4A00"/>
      </a:accent4>
      <a:accent5>
        <a:srgbClr val="E8F1FB"/>
      </a:accent5>
      <a:accent6>
        <a:srgbClr val="FFF1E6"/>
      </a:accent6>
      <a:hlink>
        <a:srgbClr val="0066CC"/>
      </a:hlink>
      <a:folHlink>
        <a:srgbClr val="6E6E73"/>
      </a:folHlink>
    </a:clrScheme>
    <a:fontScheme name="ReturnGuard HIG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ReturnGuard — Checkpoint 2</dc:title>
  <dc:subject>PptxGenJS Presentation</dc:subject>
  <dc:creator>Aditya Kamath, Trupti Reddy, Avni Wadhwani, Sharayu Jadhav</dc:creator>
  <cp:lastModifiedBy>Aditya Kamath, Trupti Reddy, Avni Wadhwani, Sharayu Jadhav</cp:lastModifiedBy>
  <cp:revision>1</cp:revision>
  <dcterms:created xsi:type="dcterms:W3CDTF">2026-10-09T01:59:30Z</dcterms:created>
  <dcterms:modified xsi:type="dcterms:W3CDTF">2026-10-09T01:59:30Z</dcterms:modified>
</cp:coreProperties>
</file>