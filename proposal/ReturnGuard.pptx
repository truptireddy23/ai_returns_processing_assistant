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8EB43-69C5-0844-9EC6-9A46D3F21B3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BF1A7-4034-9A49-8AAB-EDCF28D12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4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BF1A7-4034-9A49-8AAB-EDCF28D120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6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5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9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15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29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32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5.png"/><Relationship Id="rId7" Type="http://schemas.openxmlformats.org/officeDocument/2006/relationships/image" Target="../media/image7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32.png"/><Relationship Id="rId9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15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image" Target="../media/image29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32" Type="http://schemas.openxmlformats.org/officeDocument/2006/relationships/image" Target="../media/image103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31" Type="http://schemas.openxmlformats.org/officeDocument/2006/relationships/image" Target="../media/image102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29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5791200"/>
            <a:ext cx="108585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71500"/>
            <a:ext cx="32956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75" y="571500"/>
            <a:ext cx="18573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987105"/>
            <a:ext cx="9258300" cy="781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355378"/>
            <a:ext cx="11401425" cy="1306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5415"/>
              </a:lnSpc>
            </a:pPr>
            <a:r>
              <a:rPr lang="en-US" sz="5700" dirty="0" err="1">
                <a:solidFill>
                  <a:schemeClr val="bg1"/>
                </a:solidFill>
                <a:latin typeface="Plus Jakarta Sans ExtraBold"/>
              </a:rPr>
              <a:t>ReturnGuard</a:t>
            </a:r>
            <a:endParaRPr lang="en-US" sz="5700" dirty="0">
              <a:solidFill>
                <a:schemeClr val="bg1"/>
              </a:solidFill>
              <a:latin typeface="Plus Jakarta Sans ExtraBold"/>
            </a:endParaRPr>
          </a:p>
          <a:p>
            <a:pPr>
              <a:lnSpc>
                <a:spcPts val="5415"/>
              </a:lnSpc>
            </a:pPr>
            <a:r>
              <a:rPr lang="en-US" sz="2800" dirty="0">
                <a:solidFill>
                  <a:schemeClr val="bg1"/>
                </a:solidFill>
                <a:latin typeface="Plus Jakarta Sans ExtraBold"/>
              </a:rPr>
              <a:t>AI Return Processing Assistant</a:t>
            </a:r>
            <a:endParaRPr sz="2800" b="0" i="0" u="none" dirty="0">
              <a:solidFill>
                <a:schemeClr val="bg1"/>
              </a:solidFill>
              <a:latin typeface="Plus Jakarta Sa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750" y="2682180"/>
            <a:ext cx="10858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CBD5E1"/>
                </a:solidFill>
                <a:latin typeface="Plus Jakarta Sans Medium"/>
              </a:rPr>
              <a:t>Governed AI for Trustworthy E-Commerce Returns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428" y="3298477"/>
            <a:ext cx="161925" cy="161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3962" y="3298477"/>
            <a:ext cx="5143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FFEDD5"/>
                </a:solidFill>
                <a:latin typeface="Plus Jakarta Sans SemiBold"/>
              </a:rPr>
              <a:t>Detect return abuse. Explain the evidence. Keep humans in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888266"/>
            <a:ext cx="55530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dirty="0">
                <a:solidFill>
                  <a:srgbClr val="94A3B8"/>
                </a:solidFill>
                <a:latin typeface="JetBrains Mono"/>
              </a:rPr>
              <a:t>Team Members</a:t>
            </a:r>
            <a:endParaRPr sz="1400" b="0" i="0" u="none" dirty="0">
              <a:solidFill>
                <a:srgbClr val="94A3B8"/>
              </a:solidFill>
              <a:latin typeface="JetBrains Mono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4168080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38275" y="4225230"/>
            <a:ext cx="13430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Input</a:t>
            </a:r>
            <a:r>
              <a:rPr sz="1200" b="0" i="0" u="none" dirty="0">
                <a:solidFill>
                  <a:srgbClr val="FFFFFF"/>
                </a:solidFill>
                <a:latin typeface="Plus Jakarta Sans"/>
              </a:rPr>
              <a:t> </a:t>
            </a:r>
            <a:endParaRPr lang="en-US" sz="1200" b="0" i="0" u="none" dirty="0">
              <a:solidFill>
                <a:srgbClr val="FFFFFF"/>
              </a:solidFill>
              <a:latin typeface="Plus Jakarta Sans"/>
            </a:endParaRPr>
          </a:p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E-Commerce Return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4320480"/>
            <a:ext cx="1143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4168080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0000" y="4225230"/>
            <a:ext cx="1466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Analysis</a:t>
            </a:r>
            <a:r>
              <a:rPr sz="1200" b="0" i="0" u="none" dirty="0">
                <a:solidFill>
                  <a:srgbClr val="FFFFFF"/>
                </a:solidFill>
                <a:latin typeface="Plus Jakarta Sans"/>
              </a:rPr>
              <a:t> </a:t>
            </a:r>
            <a:endParaRPr lang="en-US" sz="1200" b="0" i="0" u="none" dirty="0">
              <a:solidFill>
                <a:srgbClr val="FFFFFF"/>
              </a:solidFill>
              <a:latin typeface="Plus Jakarta Sans"/>
            </a:endParaRPr>
          </a:p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Policy &amp; Evidence RAG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350" y="4320480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2150" y="4168080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550" y="4225230"/>
            <a:ext cx="1238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Reasoning</a:t>
            </a:r>
            <a:r>
              <a:rPr sz="1200" b="0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FFFFFF"/>
                </a:solidFill>
                <a:latin typeface="Plus Jakarta Sans"/>
              </a:rPr>
              <a:t>Governed Decision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4300" y="4320480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4168080"/>
            <a:ext cx="419100" cy="419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72500" y="4225230"/>
            <a:ext cx="1114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EDD5"/>
                </a:solidFill>
                <a:latin typeface="Plus Jakarta Sans"/>
              </a:rPr>
              <a:t>Authority</a:t>
            </a:r>
            <a:r>
              <a:rPr sz="1200" b="0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FFFFFF"/>
                </a:solidFill>
                <a:latin typeface="Plus Jakarta Sans"/>
              </a:rPr>
              <a:t>Human Oversight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6193066"/>
            <a:ext cx="12001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 SemiBold"/>
              </a:rPr>
              <a:t>Aditya Kamath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600" y="6193066"/>
            <a:ext cx="1066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 SemiBold"/>
              </a:rPr>
              <a:t>Trupti Reddy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7100" y="6193066"/>
            <a:ext cx="12382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 SemiBold"/>
              </a:rPr>
              <a:t>Avni Wadhwani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2050" y="6193066"/>
            <a:ext cx="124777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FFFFFF"/>
                </a:solidFill>
                <a:latin typeface="Plus Jakarta Sans SemiBold"/>
              </a:rPr>
              <a:t>Sharayu Jadhav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887" y="4291905"/>
            <a:ext cx="2190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0900" y="4291905"/>
            <a:ext cx="1905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2162" y="4291905"/>
            <a:ext cx="2190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9112" y="4291905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457200"/>
            <a:ext cx="16478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07740"/>
            <a:ext cx="11125200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200328"/>
            <a:ext cx="111252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825501"/>
            <a:ext cx="3581400" cy="12552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2825501"/>
            <a:ext cx="3581400" cy="12552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2825501"/>
            <a:ext cx="3581400" cy="12552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1598265"/>
            <a:ext cx="3619500" cy="57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12393"/>
            <a:ext cx="44529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Problem &amp; Motivation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517380"/>
            <a:ext cx="1112520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7599" y="1986970"/>
            <a:ext cx="4675584" cy="33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i="0" u="none" dirty="0">
                <a:solidFill>
                  <a:srgbClr val="13294B"/>
                </a:solidFill>
                <a:latin typeface="Plus Jakarta Sans ExtraBold"/>
              </a:rPr>
              <a:t>Every Return Is a Judgment Call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5700" y="464120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5463629"/>
            <a:ext cx="1143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5449341"/>
            <a:ext cx="7048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The challenge isn't simply stopping fraud. It's stopping fraud without punishing legitimate customers.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3044576"/>
            <a:ext cx="3143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0" i="0" u="none">
                <a:solidFill>
                  <a:srgbClr val="13294B"/>
                </a:solidFill>
                <a:latin typeface="Plus Jakarta Sans ExtraBold"/>
              </a:rPr>
              <a:t>$849.9B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3520826"/>
            <a:ext cx="314325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 u="none">
                <a:solidFill>
                  <a:srgbClr val="475569"/>
                </a:solidFill>
                <a:latin typeface="Plus Jakarta Sans Medium"/>
              </a:rPr>
              <a:t>U.S. retail returns projected in 2025 across e-commerce and store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4375" y="3044576"/>
            <a:ext cx="3143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0" i="0" u="none">
                <a:solidFill>
                  <a:srgbClr val="E84A27"/>
                </a:solidFill>
                <a:latin typeface="Plus Jakarta Sans ExtraBold"/>
              </a:rPr>
              <a:t>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3520826"/>
            <a:ext cx="314325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 u="none">
                <a:solidFill>
                  <a:srgbClr val="475569"/>
                </a:solidFill>
                <a:latin typeface="Plus Jakarta Sans Medium"/>
              </a:rPr>
              <a:t>Estimated fraudulent returns, inflicting immense losses across merchant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275" y="3044576"/>
            <a:ext cx="3143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0" i="0" u="none">
                <a:solidFill>
                  <a:srgbClr val="13294B"/>
                </a:solidFill>
                <a:latin typeface="Plus Jakarta Sans ExtraBold"/>
              </a:rPr>
              <a:t>71%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6275" y="3520826"/>
            <a:ext cx="314325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 u="none">
                <a:solidFill>
                  <a:srgbClr val="475569"/>
                </a:solidFill>
                <a:latin typeface="Plus Jakarta Sans Medium"/>
              </a:rPr>
              <a:t>Say a poor return experience makes them less likely to shop with that retailer again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5" y="1512540"/>
            <a:ext cx="495300" cy="495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67337" y="1769715"/>
            <a:ext cx="1457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3294B"/>
                </a:solidFill>
                <a:latin typeface="JetBrains Mono ExtraBold"/>
              </a:rPr>
              <a:t>THE RETURN DILEMMA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48975" y="1512540"/>
            <a:ext cx="495300" cy="495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" y="1655415"/>
            <a:ext cx="20955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95425" y="1564927"/>
            <a:ext cx="128016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JetBrains Mono"/>
              </a:rPr>
              <a:t>TOO PERMISSIVE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5425" y="1717327"/>
            <a:ext cx="128016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13294B"/>
                </a:solidFill>
                <a:latin typeface="Plus Jakarta Sans ExtraBold"/>
              </a:rPr>
              <a:t>FRAUD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29325" y="156016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76260" y="1445865"/>
            <a:ext cx="252031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64748B"/>
                </a:solidFill>
                <a:latin typeface="JetBrains Mono"/>
              </a:rPr>
              <a:t>TOO AGGRESSIVE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6260" y="1598265"/>
            <a:ext cx="252031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0" i="0" u="none">
                <a:solidFill>
                  <a:srgbClr val="13294B"/>
                </a:solidFill>
                <a:latin typeface="Plus Jakarta Sans ExtraBold"/>
              </a:rPr>
              <a:t>CUSTOMER TRUST DAMAGE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1850" y="165541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457200"/>
            <a:ext cx="16478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26371"/>
            <a:ext cx="11125200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104060"/>
            <a:ext cx="11125200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200775"/>
            <a:ext cx="111252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207740"/>
            <a:ext cx="3555950" cy="195054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207740"/>
            <a:ext cx="3555950" cy="195054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500" y="1207740"/>
            <a:ext cx="3556099" cy="195054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007346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3275" y="4007346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4007346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4525" y="4007346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57200"/>
            <a:ext cx="583882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Human-AI Interaction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298031"/>
            <a:ext cx="6130766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 dirty="0">
                <a:solidFill>
                  <a:srgbClr val="13294B"/>
                </a:solidFill>
                <a:latin typeface="Plus Jakarta Sans ExtraBold"/>
              </a:rPr>
              <a:t>Three Users. One Accountable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3777" y="5237410"/>
            <a:ext cx="104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6497" y="5237410"/>
            <a:ext cx="104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432" y="5237410"/>
            <a:ext cx="104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7807" y="5237410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EDD5"/>
                </a:solidFill>
                <a:latin typeface="JetBrains Mono ExtraBold"/>
              </a:rPr>
              <a:t>System Success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9375" y="4088308"/>
            <a:ext cx="952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72100" y="4088308"/>
            <a:ext cx="952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0625" y="4088308"/>
            <a:ext cx="952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10692" y="5270748"/>
            <a:ext cx="135284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422177" y="5251698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Accurate Review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7152" y="5270748"/>
            <a:ext cx="106709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310062" y="5251698"/>
            <a:ext cx="148783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Explainable Reasoning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9872" y="5270748"/>
            <a:ext cx="173384" cy="133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09457" y="5251698"/>
            <a:ext cx="1476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Human Accountability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1525" y="1426815"/>
            <a:ext cx="438150" cy="4381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43025" y="1445865"/>
            <a:ext cx="87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Persona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2160240"/>
            <a:ext cx="3079700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Primary Task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Submit &amp; track returns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2606873"/>
            <a:ext cx="3079700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Essential Need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Fast, fair and explainable outcomes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6075" y="1426815"/>
            <a:ext cx="438150" cy="4381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27575" y="1445865"/>
            <a:ext cx="2047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84A27"/>
                </a:solidFill>
                <a:latin typeface="Plus Jakarta Sans"/>
              </a:rPr>
              <a:t>Persona 02 (Oversight)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6075" y="2160240"/>
            <a:ext cx="3079700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Primary Task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Review flagged returns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6075" y="2606873"/>
            <a:ext cx="3079700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Essential Need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Evidence, not an opaque fraud score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0625" y="1426815"/>
            <a:ext cx="438150" cy="4381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12125" y="1445865"/>
            <a:ext cx="1790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Persona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0625" y="2160240"/>
            <a:ext cx="3079849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Primary Task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Audit 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0625" y="2606873"/>
            <a:ext cx="3079849" cy="33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Essential Need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1E293B"/>
                </a:solidFill>
                <a:latin typeface="Plus Jakarta Sans SemiBold"/>
              </a:rPr>
              <a:t>Policy compliance and traceability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0625" y="4012108"/>
            <a:ext cx="8401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Plus Jakarta Sans ExtraBold"/>
              </a:rPr>
              <a:t>CUSTOMER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0625" y="4164508"/>
            <a:ext cx="800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Submits return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2375" y="4012108"/>
            <a:ext cx="103012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Plus Jakarta Sans ExtraBold"/>
              </a:rPr>
              <a:t>AI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2375" y="4164508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Analyzes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5100" y="4012108"/>
            <a:ext cx="17502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Plus Jakarta Sans ExtraBold"/>
              </a:rPr>
              <a:t>TRUST &amp; SAFETY REVIEWER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5100" y="4164508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Confirms adverse decisions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3625" y="4012108"/>
            <a:ext cx="15401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Plus Jakarta Sans ExtraBold"/>
              </a:rPr>
              <a:t>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3625" y="4164508"/>
            <a:ext cx="146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Decision remains traceable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75" y="1550640"/>
            <a:ext cx="171450" cy="1905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43025" y="1645890"/>
            <a:ext cx="9201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CUSTOMER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56087" y="1550640"/>
            <a:ext cx="238125" cy="1905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127575" y="1645890"/>
            <a:ext cx="21502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TRUST &amp; SAFETY REVIEWER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88263" y="1550640"/>
            <a:ext cx="142875" cy="1905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912125" y="1645890"/>
            <a:ext cx="188023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RISK / PLATFORM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457200"/>
            <a:ext cx="16478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200775"/>
            <a:ext cx="111252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1207740"/>
            <a:ext cx="5000625" cy="484063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99" y="1910484"/>
            <a:ext cx="5000625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89845"/>
            <a:ext cx="5000625" cy="828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399" y="4685363"/>
            <a:ext cx="5000625" cy="676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399" y="457200"/>
            <a:ext cx="55911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Gap Analysis &amp; Opportunity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0" y="2008733"/>
            <a:ext cx="571500" cy="3238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949" y="2053359"/>
            <a:ext cx="461010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Manual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432720"/>
            <a:ext cx="461010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Rule-Based Engines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49" y="4828238"/>
            <a:ext cx="461010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Black-Box Risk Models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2774" y="2007303"/>
            <a:ext cx="2737247" cy="3143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62774" y="2475290"/>
            <a:ext cx="461057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FFFFFF"/>
                </a:solidFill>
                <a:latin typeface="Plus Jakarta Sans ExtraBold"/>
              </a:rPr>
              <a:t>Missing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4" y="2807850"/>
            <a:ext cx="43910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Existing approaches often leave gaps across</a:t>
            </a:r>
            <a:r>
              <a:rPr sz="1400" b="0" i="0" u="none" dirty="0">
                <a:solidFill>
                  <a:schemeClr val="bg1"/>
                </a:solidFill>
                <a:latin typeface="Plus Jakarta San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4" y="5342581"/>
            <a:ext cx="4391025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200" b="1" i="0" u="none" dirty="0">
                <a:solidFill>
                  <a:srgbClr val="FFEDD5"/>
                </a:solidFill>
                <a:latin typeface="Plus Jakarta Sans"/>
              </a:rPr>
              <a:t>Core Opportunity:</a:t>
            </a:r>
            <a:r>
              <a:rPr lang="en-US" sz="1200" b="1" i="0" u="none" dirty="0">
                <a:solidFill>
                  <a:srgbClr val="FFEDD5"/>
                </a:solidFill>
                <a:latin typeface="Plus Jakarta Sans"/>
              </a:rPr>
              <a:t> Explores this interaction rather than simply producing another fraud score</a:t>
            </a:r>
            <a:endParaRPr sz="1200" b="1" i="0" u="none" dirty="0">
              <a:solidFill>
                <a:srgbClr val="FFEDD5"/>
              </a:solidFill>
              <a:latin typeface="Plus Jakarta San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2549" y="2067646"/>
            <a:ext cx="1905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5349" y="2291484"/>
            <a:ext cx="895350" cy="311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66534"/>
                </a:solidFill>
                <a:latin typeface="Plus Jakarta Sans SemiBold"/>
              </a:rPr>
              <a:t>Human </a:t>
            </a:r>
            <a:r>
              <a:rPr sz="1050" b="0" i="0" u="none" dirty="0">
                <a:solidFill>
                  <a:srgbClr val="166534"/>
                </a:solidFill>
                <a:latin typeface="Plus Jakarta Sans SemiBold"/>
              </a:rPr>
              <a:t>judgment</a:t>
            </a:r>
            <a:endParaRPr sz="975" b="0" i="0" u="none" dirty="0">
              <a:solidFill>
                <a:srgbClr val="166534"/>
              </a:solidFill>
              <a:latin typeface="Plus Jakarta Sans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28824" y="2291484"/>
            <a:ext cx="33242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91B1B"/>
                </a:solidFill>
                <a:latin typeface="Plus Jakarta Sans Medium"/>
              </a:rPr>
              <a:t>Slow · Inconsistent · Hard to scale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0650" y="3447008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5350" y="3670845"/>
            <a:ext cx="8953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66534"/>
                </a:solidFill>
                <a:latin typeface="Plus Jakarta Sans SemiBold"/>
              </a:rPr>
              <a:t>Fast &amp; predictable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8825" y="3670845"/>
            <a:ext cx="33242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Plus Jakarta Sans Medium"/>
              </a:rPr>
              <a:t>Rigid thresholds · Weak on nuance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2549" y="4842525"/>
            <a:ext cx="1905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5349" y="5066363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66534"/>
                </a:solidFill>
                <a:latin typeface="Plus Jakarta Sans SemiBold"/>
              </a:rPr>
              <a:t>Scale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8824" y="5066363"/>
            <a:ext cx="3324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Plus Jakarta Sans Medium"/>
              </a:rPr>
              <a:t>Opaque scores · No reasoning visibility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2775" y="3219003"/>
            <a:ext cx="1905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7575" y="3195191"/>
            <a:ext cx="1943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Multi-Evidence Reasoning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2775" y="3533328"/>
            <a:ext cx="190500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67575" y="3509516"/>
            <a:ext cx="990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Explainability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2775" y="3847653"/>
            <a:ext cx="1905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67575" y="3823841"/>
            <a:ext cx="904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Governance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2775" y="4161978"/>
            <a:ext cx="1905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67575" y="4138166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Human Oversight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49" y="2291484"/>
            <a:ext cx="104775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85949" y="2291484"/>
            <a:ext cx="95250" cy="1238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2950" y="3670845"/>
            <a:ext cx="104775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85950" y="3670845"/>
            <a:ext cx="95250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49" y="5066363"/>
            <a:ext cx="104775" cy="1238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85949" y="5066363"/>
            <a:ext cx="9525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457200"/>
            <a:ext cx="16478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200775"/>
            <a:ext cx="111252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207740"/>
            <a:ext cx="4000500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1207740"/>
            <a:ext cx="4000500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588990"/>
            <a:ext cx="4000500" cy="2190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3588990"/>
            <a:ext cx="4000500" cy="2190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0" y="1207740"/>
            <a:ext cx="2667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57102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Academic Foundations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949" y="2693267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66295" y="3500586"/>
            <a:ext cx="145925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CBD5E1"/>
                </a:solidFill>
                <a:latin typeface="JetBrains Mono"/>
              </a:rPr>
              <a:t>LITERATURE →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150" y="3767286"/>
            <a:ext cx="21717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Synthesizing four distinct research streams into one coherent governed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1464915"/>
            <a:ext cx="59441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84A27"/>
                </a:solidFill>
                <a:latin typeface="JetBrains Mono"/>
              </a:rPr>
              <a:t>THEME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1626840"/>
            <a:ext cx="374046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3294B"/>
                </a:solidFill>
                <a:latin typeface="Plus Jakarta Sans ExtraBold"/>
              </a:rPr>
              <a:t>Return Fraud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1893540"/>
            <a:ext cx="356235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Key idea: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Fraud takes multiple forms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Supporting: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Behavior and context matter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99844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75" y="2979390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3294B"/>
                </a:solidFill>
                <a:latin typeface="JetBrains Mono"/>
              </a:rPr>
              <a:t>Behavior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7175" y="1464915"/>
            <a:ext cx="59441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84A27"/>
                </a:solidFill>
                <a:latin typeface="JetBrains Mono"/>
              </a:rPr>
              <a:t>THEME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7175" y="1626840"/>
            <a:ext cx="374046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3294B"/>
                </a:solidFill>
                <a:latin typeface="Plus Jakarta Sans ExtraBold"/>
              </a:rPr>
              <a:t>Evidence &amp; Grounding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7175" y="1893540"/>
            <a:ext cx="356235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Key idea: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Decisions need evidence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Supporting: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Policies + case info constrain reasoning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2998440"/>
            <a:ext cx="1047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81975" y="2979390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3294B"/>
                </a:solidFill>
                <a:latin typeface="JetBrains Mono"/>
              </a:rPr>
              <a:t>Policy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3846165"/>
            <a:ext cx="59441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84A27"/>
                </a:solidFill>
                <a:latin typeface="JetBrains Mono"/>
              </a:rPr>
              <a:t>THEME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" y="4008090"/>
            <a:ext cx="374046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3294B"/>
                </a:solidFill>
                <a:latin typeface="Plus Jakarta Sans ExtraBold"/>
              </a:rPr>
              <a:t>Explainable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4274790"/>
            <a:ext cx="356235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475569"/>
                </a:solidFill>
                <a:latin typeface="Plus Jakarta Sans"/>
              </a:rPr>
              <a:t>Key idea: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A score isn't enough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 dirty="0">
                <a:solidFill>
                  <a:srgbClr val="475569"/>
                </a:solidFill>
                <a:latin typeface="Plus Jakarta Sans"/>
              </a:rPr>
              <a:t>Supporting: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People need understandable reasoning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5379690"/>
            <a:ext cx="104775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7275" y="5360640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3294B"/>
                </a:solidFill>
                <a:latin typeface="JetBrains Mono"/>
              </a:rPr>
              <a:t>Explanation + Critic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7175" y="3846165"/>
            <a:ext cx="59441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84A27"/>
                </a:solidFill>
                <a:latin typeface="JetBrains Mono"/>
              </a:rPr>
              <a:t>THEME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7175" y="4008090"/>
            <a:ext cx="374046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3294B"/>
                </a:solidFill>
                <a:latin typeface="Plus Jakarta Sans ExtraBold"/>
              </a:rPr>
              <a:t>Human–AI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7175" y="4274790"/>
            <a:ext cx="356235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Key idea: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High-impact AI needs oversight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Supporting: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Humans retain authority over adverse decisions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5379690"/>
            <a:ext cx="104775" cy="1143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81975" y="5360640"/>
            <a:ext cx="1000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3294B"/>
                </a:solidFill>
                <a:latin typeface="JetBrains Mono"/>
              </a:rPr>
              <a:t>Governance Gate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2BD5A-43CB-CD06-9E7F-6E348415C5CC}"/>
              </a:ext>
            </a:extLst>
          </p:cNvPr>
          <p:cNvSpPr txBox="1"/>
          <p:nvPr/>
        </p:nvSpPr>
        <p:spPr>
          <a:xfrm>
            <a:off x="5378410" y="3100536"/>
            <a:ext cx="143517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FFFFFF"/>
                </a:solidFill>
                <a:latin typeface="Plus Jakarta Sans ExtraBold"/>
              </a:rPr>
              <a:t>ReturnGuard</a:t>
            </a:r>
            <a:endParaRPr sz="1800" b="0" i="0" u="none" dirty="0">
              <a:solidFill>
                <a:srgbClr val="FFFFFF"/>
              </a:solidFill>
              <a:latin typeface="Plus Jakarta Sa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457200"/>
            <a:ext cx="1647825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07740"/>
            <a:ext cx="7962900" cy="482158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850" y="1207740"/>
            <a:ext cx="2952750" cy="482158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870870"/>
            <a:ext cx="7524750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5109418"/>
            <a:ext cx="2533650" cy="7102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5" y="1426815"/>
            <a:ext cx="2800350" cy="1924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4575" y="4914751"/>
            <a:ext cx="5962650" cy="895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2566243"/>
            <a:ext cx="2533650" cy="47238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3171973"/>
            <a:ext cx="2533650" cy="47238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3777704"/>
            <a:ext cx="2533650" cy="62091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1903065"/>
            <a:ext cx="1352550" cy="971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6975" y="2017365"/>
            <a:ext cx="1200150" cy="742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9075" y="1903065"/>
            <a:ext cx="1085850" cy="971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1169" y="4037558"/>
            <a:ext cx="640109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JetBrains Mono ExtraBold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9941" y="4037558"/>
            <a:ext cx="480119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JetBrains Mono ExtraBold"/>
              </a:rPr>
              <a:t>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8722" y="4037558"/>
            <a:ext cx="880169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3294B"/>
                </a:solidFill>
                <a:latin typeface="JetBrains Mono ExtraBold"/>
              </a:rPr>
              <a:t>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553" y="4037558"/>
            <a:ext cx="12001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84A27"/>
                </a:solidFill>
                <a:latin typeface="JetBrains Mono ExtraBold"/>
              </a:rPr>
              <a:t>GOVERNANCE GATE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4914751"/>
            <a:ext cx="1428750" cy="895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15400" y="1417290"/>
            <a:ext cx="266033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84A27"/>
                </a:solidFill>
                <a:latin typeface="JetBrains Mono"/>
              </a:rPr>
              <a:t>CAPABILITY RATIONALE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588740"/>
            <a:ext cx="26603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Plus Jakarta Sans ExtraBold"/>
              </a:rPr>
              <a:t>WHY GenAI?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8737" y="2064990"/>
            <a:ext cx="2000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5350" y="2369790"/>
            <a:ext cx="1066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937" b="0" i="0" u="none">
                <a:solidFill>
                  <a:srgbClr val="13294B"/>
                </a:solidFill>
                <a:latin typeface="JetBrains Mono ExtraBold"/>
              </a:rPr>
              <a:t>RETURN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" y="2588865"/>
            <a:ext cx="8763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Multimodal Intake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9325" y="2317402"/>
            <a:ext cx="1333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09850" y="2255490"/>
            <a:ext cx="914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937" b="0" i="0" u="none">
                <a:solidFill>
                  <a:srgbClr val="13294B"/>
                </a:solidFill>
                <a:latin typeface="JetBrains Mono ExtraBold"/>
              </a:rPr>
              <a:t>DATA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9375" y="2474565"/>
            <a:ext cx="8953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Intake Verification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81425" y="2317402"/>
            <a:ext cx="1333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3412" y="2064990"/>
            <a:ext cx="257175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05300" y="2369790"/>
            <a:ext cx="533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937" b="0" i="0" u="none">
                <a:solidFill>
                  <a:srgbClr val="13294B"/>
                </a:solidFill>
                <a:latin typeface="JetBrains Mono ExtraBold"/>
              </a:rPr>
              <a:t>PLANNER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1475" y="2588865"/>
            <a:ext cx="7810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Decomposition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29225" y="2317402"/>
            <a:ext cx="13335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29275" y="1560165"/>
            <a:ext cx="2495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E84A27"/>
                </a:solidFill>
                <a:latin typeface="JetBrains Mono ExtraBold"/>
              </a:rPr>
              <a:t>PARALLEL EVIDENCE BRANCHES MULTI-MODAL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550" y="4037558"/>
            <a:ext cx="194369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9125" y="4061370"/>
            <a:ext cx="13335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10321" y="4037558"/>
            <a:ext cx="194369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67906" y="4061370"/>
            <a:ext cx="13335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9102" y="4037558"/>
            <a:ext cx="194369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46737" y="4061370"/>
            <a:ext cx="13335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67933" y="4037558"/>
            <a:ext cx="194369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62075" y="5057626"/>
            <a:ext cx="209550" cy="2095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83481" y="5324326"/>
            <a:ext cx="5667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66534"/>
                </a:solidFill>
                <a:latin typeface="JetBrains Mono ExtraBold"/>
              </a:rPr>
              <a:t>APPROVE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162" y="5543401"/>
            <a:ext cx="10953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66534"/>
                </a:solidFill>
                <a:latin typeface="Plus Jakarta Sans Medium"/>
              </a:rPr>
              <a:t>Automated Clearance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5550" y="5190976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3412"/>
                </a:solidFill>
                <a:latin typeface="Plus Jakarta Sans ExtraBold"/>
              </a:rPr>
              <a:t>DENY / UNCERTAIN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7C2D12"/>
                </a:solidFill>
                <a:latin typeface="Plus Jakarta Sans Medium"/>
              </a:rPr>
              <a:t>Escalates automatically with structured reasoning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8275" y="2642443"/>
            <a:ext cx="23902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 ExtraBold"/>
              </a:rPr>
              <a:t>UNDERSTAND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8275" y="2813893"/>
            <a:ext cx="227647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Unstructured return reasons &amp; policies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8275" y="3248173"/>
            <a:ext cx="23902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 ExtraBold"/>
              </a:rPr>
              <a:t>SYNTHESIZE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8275" y="3419623"/>
            <a:ext cx="227647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Conflicting multimodal evidence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8275" y="3853904"/>
            <a:ext cx="23902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 ExtraBold"/>
              </a:rPr>
              <a:t>EXPLAIN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8275" y="4025354"/>
            <a:ext cx="227647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Why the system reached its recommendation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39225" y="5234136"/>
            <a:ext cx="142875" cy="1143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239250" y="5214193"/>
            <a:ext cx="1219200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1" i="0" u="none">
                <a:solidFill>
                  <a:srgbClr val="FFEDD5"/>
                </a:solidFill>
                <a:latin typeface="Plus Jakarta Sans"/>
              </a:rPr>
              <a:t>Core Governance Rule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53100" y="2017365"/>
            <a:ext cx="228600" cy="1905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96000" y="2031652"/>
            <a:ext cx="1724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POLICY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475569"/>
                </a:solidFill>
                <a:latin typeface="Plus Jakarta Sans Medium"/>
              </a:rPr>
              <a:t>RAG / policy evidence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53100" y="2474565"/>
            <a:ext cx="228600" cy="1905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096000" y="2488852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IMAGE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475569"/>
                </a:solidFill>
                <a:latin typeface="Plus Jakarta Sans Medium"/>
              </a:rPr>
              <a:t>Image evidence analysis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53100" y="2931765"/>
            <a:ext cx="228600" cy="1905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96000" y="2946052"/>
            <a:ext cx="1866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BEHAVIOR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475569"/>
                </a:solidFill>
                <a:latin typeface="Plus Jakarta Sans Medium"/>
              </a:rPr>
              <a:t>Behavioral risk signals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3700" y="5267176"/>
            <a:ext cx="238125" cy="1905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077075" y="5224313"/>
            <a:ext cx="885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 ExtraBold"/>
              </a:rPr>
              <a:t>HUMAN REVIEW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77075" y="5376713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FFFFFF"/>
                </a:solidFill>
                <a:latin typeface="Plus Jakarta Sans"/>
              </a:rPr>
              <a:t>Confirm / Override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317B740-F166-F530-6983-D66044E8287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4824" y="1047899"/>
            <a:ext cx="8119887" cy="504990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0D61782-F7B0-749F-30DA-A54C953C93F1}"/>
              </a:ext>
            </a:extLst>
          </p:cNvPr>
          <p:cNvSpPr txBox="1"/>
          <p:nvPr/>
        </p:nvSpPr>
        <p:spPr>
          <a:xfrm>
            <a:off x="533399" y="457200"/>
            <a:ext cx="719475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System Architecture &amp;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4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457200"/>
            <a:ext cx="14478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07740"/>
            <a:ext cx="111252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855440"/>
            <a:ext cx="11125200" cy="298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067425"/>
            <a:ext cx="11125200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182665"/>
            <a:ext cx="106489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011340"/>
            <a:ext cx="2667000" cy="86558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5011340"/>
            <a:ext cx="2667000" cy="8655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011340"/>
            <a:ext cx="2667000" cy="8655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1600" y="5011340"/>
            <a:ext cx="2667000" cy="86558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2331690"/>
            <a:ext cx="4829175" cy="1717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6450" y="2980878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2331690"/>
            <a:ext cx="4829175" cy="1717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1331565"/>
            <a:ext cx="1423987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2975" y="1999809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13294B"/>
                </a:solidFill>
                <a:latin typeface="Plus Jakarta Sans"/>
              </a:rPr>
              <a:t> Experimental Protocol: Identical Realistic Return Scenarios 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lang="en-US" sz="1200" b="0" i="0" u="none" dirty="0">
                <a:solidFill>
                  <a:srgbClr val="1E293B"/>
                </a:solidFill>
                <a:latin typeface="Plus Jakarta Sans"/>
              </a:rPr>
              <a:t>                                                                                                                                     </a:t>
            </a:r>
            <a:r>
              <a:rPr sz="1200" b="0" i="0" u="none" dirty="0">
                <a:solidFill>
                  <a:srgbClr val="64748B"/>
                </a:solidFill>
                <a:latin typeface="Plus Jakarta Sans Medium"/>
              </a:rPr>
              <a:t>Standardized Benchmark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6186487"/>
            <a:ext cx="51339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E84A27"/>
                </a:solidFill>
                <a:latin typeface="JetBrains Mono"/>
              </a:rPr>
              <a:t>Watch for:</a:t>
            </a:r>
            <a:r>
              <a:rPr sz="1100" b="0" i="0" u="none">
                <a:solidFill>
                  <a:srgbClr val="CBD5E1"/>
                </a:solidFill>
                <a:latin typeface="JetBrains Mono"/>
              </a:rPr>
              <a:t> false positives · bias · hallucination · privacy · automation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6181725"/>
            <a:ext cx="4191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FFFFFF"/>
                </a:solidFill>
                <a:latin typeface="Plus Jakarta Sans"/>
              </a:rPr>
              <a:t>The goal is not more automation. It is more accountable automation.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75" y="4344590"/>
            <a:ext cx="11430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13294B"/>
                </a:solidFill>
                <a:latin typeface="JetBrains Mono ExtraBold"/>
              </a:rPr>
              <a:t>EVALUATION AXES: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5163740"/>
            <a:ext cx="23050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3294B"/>
                </a:solidFill>
                <a:latin typeface="Plus Jakarta Sans ExtraBold"/>
              </a:rPr>
              <a:t>CP1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166534"/>
                </a:solidFill>
                <a:latin typeface="Plus Jakarta Sans"/>
              </a:rPr>
              <a:t>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5563790"/>
            <a:ext cx="230505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1012" b="1" i="0" u="none">
                <a:solidFill>
                  <a:srgbClr val="1E293B"/>
                </a:solidFill>
                <a:latin typeface="Plus Jakarta Sans"/>
              </a:rPr>
              <a:t>Research &amp;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775" y="5176658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E84A27"/>
                </a:solidFill>
                <a:latin typeface="Plus Jakarta Sans ExtraBold"/>
              </a:rPr>
              <a:t>CP2 · Immediate Focus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1" i="0" u="none" dirty="0">
                <a:solidFill>
                  <a:srgbClr val="C2410C"/>
                </a:solidFill>
                <a:latin typeface="Plus Jakarta Sans"/>
              </a:rPr>
              <a:t> </a:t>
            </a:r>
            <a:r>
              <a:rPr lang="en-US" sz="1200" b="1" i="0" u="none" dirty="0">
                <a:solidFill>
                  <a:srgbClr val="C2410C"/>
                </a:solidFill>
                <a:latin typeface="Plus Jakarta Sans"/>
              </a:rPr>
              <a:t>   </a:t>
            </a:r>
            <a:r>
              <a:rPr sz="1200" b="1" i="0" u="none" dirty="0">
                <a:solidFill>
                  <a:srgbClr val="C2410C"/>
                </a:solidFill>
                <a:latin typeface="Plus Jakarta Sans"/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3300" y="5554265"/>
            <a:ext cx="228600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1012" b="1" i="0" u="none">
                <a:solidFill>
                  <a:srgbClr val="1E293B"/>
                </a:solidFill>
                <a:latin typeface="Plus Jakarta Sans"/>
              </a:rPr>
              <a:t>Core Pipeline +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3175" y="5152370"/>
            <a:ext cx="23050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13294B"/>
                </a:solidFill>
                <a:latin typeface="Plus Jakarta Sans ExtraBold"/>
              </a:rPr>
              <a:t>CP3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lang="en-US" sz="1200" b="0" i="0" u="none" dirty="0">
                <a:solidFill>
                  <a:srgbClr val="1E293B"/>
                </a:solidFill>
                <a:latin typeface="Plus Jakarta Sans"/>
              </a:rPr>
              <a:t>                                    </a:t>
            </a:r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Upcoming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3175" y="5563790"/>
            <a:ext cx="230505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1012" b="1" i="0" u="none">
                <a:solidFill>
                  <a:srgbClr val="1E293B"/>
                </a:solidFill>
                <a:latin typeface="Plus Jakarta Sans"/>
              </a:rPr>
              <a:t>Governance + 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5" y="5152370"/>
            <a:ext cx="23050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13294B"/>
                </a:solidFill>
                <a:latin typeface="Plus Jakarta Sans ExtraBold"/>
              </a:rPr>
              <a:t>CP4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lang="en-US" sz="1200" b="0" i="0" u="none" dirty="0">
                <a:solidFill>
                  <a:srgbClr val="1E293B"/>
                </a:solidFill>
                <a:latin typeface="Plus Jakarta Sans"/>
              </a:rPr>
              <a:t>                                           </a:t>
            </a:r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2575" y="5563790"/>
            <a:ext cx="230505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1012" b="1" i="0" u="none">
                <a:solidFill>
                  <a:srgbClr val="1E293B"/>
                </a:solidFill>
                <a:latin typeface="Plus Jakarta Sans"/>
              </a:rPr>
              <a:t>End-to-End Evaluation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2084040"/>
            <a:ext cx="114300" cy="1095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1550" y="2881461"/>
            <a:ext cx="44291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64748B"/>
                </a:solidFill>
                <a:latin typeface="JetBrains Mono"/>
              </a:rPr>
              <a:t>BASELINE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3071961"/>
            <a:ext cx="442912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13294B"/>
                </a:solidFill>
                <a:latin typeface="Plus Jakarta Sans ExtraBold"/>
              </a:rPr>
              <a:t>SINGLE LLM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" y="3338661"/>
            <a:ext cx="4429125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64748B"/>
                </a:solidFill>
                <a:latin typeface="Plus Jakarta Sans"/>
              </a:rPr>
              <a:t>Direct prompt execution without decomposed critic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850" y="2881461"/>
            <a:ext cx="44100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84A27"/>
                </a:solidFill>
                <a:latin typeface="JetBrains Mono"/>
              </a:rPr>
              <a:t>PROPOSED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0850" y="3071961"/>
            <a:ext cx="441007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13294B"/>
                </a:solidFill>
                <a:latin typeface="Plus Jakarta Sans ExtraBold"/>
              </a:rPr>
              <a:t>RETURNGUARD MULTI-AGENT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850" y="3338661"/>
            <a:ext cx="4410075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C2410C"/>
                </a:solidFill>
                <a:latin typeface="Plus Jakarta Sans Medium"/>
              </a:rPr>
              <a:t>Specialized agents with planner, RAG, critic and governance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69567" y="4287440"/>
            <a:ext cx="1306859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52627" y="4287440"/>
            <a:ext cx="1375469" cy="2476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4296" y="4287440"/>
            <a:ext cx="2061269" cy="2476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41766" y="4287440"/>
            <a:ext cx="1512689" cy="2476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30655" y="4287440"/>
            <a:ext cx="1718369" cy="2476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86000" y="5192315"/>
            <a:ext cx="95250" cy="1047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0876AD5-6A15-D6B0-BCF5-B15D001226B8}"/>
              </a:ext>
            </a:extLst>
          </p:cNvPr>
          <p:cNvSpPr txBox="1"/>
          <p:nvPr/>
        </p:nvSpPr>
        <p:spPr>
          <a:xfrm>
            <a:off x="533400" y="457200"/>
            <a:ext cx="5562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4A27"/>
                </a:solidFill>
                <a:latin typeface="Plus Jakarta Sans"/>
              </a:rPr>
              <a:t>Milestones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563</Words>
  <Application>Microsoft Macintosh PowerPoint</Application>
  <PresentationFormat>Widescreen</PresentationFormat>
  <Paragraphs>144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JetBrains Mono</vt:lpstr>
      <vt:lpstr>JetBrains Mono ExtraBold</vt:lpstr>
      <vt:lpstr>Plus Jakarta Sans</vt:lpstr>
      <vt:lpstr>Plus Jakarta Sans ExtraBold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Jadhav, Sharayu Santosh</cp:lastModifiedBy>
  <cp:revision>7</cp:revision>
  <dcterms:created xsi:type="dcterms:W3CDTF">2013-01-27T09:14:16Z</dcterms:created>
  <dcterms:modified xsi:type="dcterms:W3CDTF">2026-09-18T04:24:45Z</dcterms:modified>
  <cp:category/>
</cp:coreProperties>
</file>